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Rubik Bold" charset="1" panose="00000800000000000000"/>
      <p:regular r:id="rId21"/>
    </p:embeddedFont>
    <p:embeddedFont>
      <p:font typeface="Rubik Light" charset="1" panose="00000400000000000000"/>
      <p:regular r:id="rId22"/>
    </p:embeddedFont>
    <p:embeddedFont>
      <p:font typeface="Rubik" charset="1" panose="00000000000000000000"/>
      <p:regular r:id="rId23"/>
    </p:embeddedFont>
    <p:embeddedFont>
      <p:font typeface="Aileron Italics" charset="1" panose="00000500000000000000"/>
      <p:regular r:id="rId26"/>
    </p:embeddedFont>
    <p:embeddedFont>
      <p:font typeface="Agrandir Bold" charset="1" panose="00000800000000000000"/>
      <p:regular r:id="rId27"/>
    </p:embeddedFont>
    <p:embeddedFont>
      <p:font typeface="Aileron" charset="1" panose="00000500000000000000"/>
      <p:regular r:id="rId29"/>
    </p:embeddedFont>
    <p:embeddedFont>
      <p:font typeface="Aileron Bold" charset="1" panose="000008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notesSlides/notesSlide4.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5.xml" Type="http://schemas.openxmlformats.org/officeDocument/2006/relationships/notesSlide"/><Relationship Id="rId31" Target="fonts/font31.fntdata" Type="http://schemas.openxmlformats.org/officeDocument/2006/relationships/font"/><Relationship Id="rId32" Target="notesSlides/notesSlide6.xml" Type="http://schemas.openxmlformats.org/officeDocument/2006/relationships/notesSlide"/><Relationship Id="rId33" Target="notesSlides/notesSlide7.xml" Type="http://schemas.openxmlformats.org/officeDocument/2006/relationships/notesSlide"/><Relationship Id="rId34" Target="notesSlides/notesSlide8.xml" Type="http://schemas.openxmlformats.org/officeDocument/2006/relationships/notesSlide"/><Relationship Id="rId35" Target="notesSlides/notesSlide9.xml" Type="http://schemas.openxmlformats.org/officeDocument/2006/relationships/notesSlide"/><Relationship Id="rId36" Target="notesSlides/notesSlide10.xml" Type="http://schemas.openxmlformats.org/officeDocument/2006/relationships/notesSlide"/><Relationship Id="rId37" Target="notesSlides/notesSlide11.xml" Type="http://schemas.openxmlformats.org/officeDocument/2006/relationships/notesSlide"/><Relationship Id="rId38"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png" Type="http://schemas.openxmlformats.org/officeDocument/2006/relationships/image"/><Relationship Id="rId4" Target="../media/image5.jpeg" Type="http://schemas.openxmlformats.org/officeDocument/2006/relationships/image"/><Relationship Id="rId5"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228" t="-35818" r="-11439" b="0"/>
            </a:stretch>
          </a:blipFill>
        </p:spPr>
      </p:sp>
      <p:grpSp>
        <p:nvGrpSpPr>
          <p:cNvPr name="Group 3" id="3"/>
          <p:cNvGrpSpPr/>
          <p:nvPr/>
        </p:nvGrpSpPr>
        <p:grpSpPr>
          <a:xfrm rot="0">
            <a:off x="699602" y="372999"/>
            <a:ext cx="2799798" cy="1082602"/>
            <a:chOff x="0" y="0"/>
            <a:chExt cx="3733063" cy="1443469"/>
          </a:xfrm>
        </p:grpSpPr>
        <p:sp>
          <p:nvSpPr>
            <p:cNvPr name="Freeform 4" id="4"/>
            <p:cNvSpPr/>
            <p:nvPr/>
          </p:nvSpPr>
          <p:spPr>
            <a:xfrm flipH="false" flipV="false" rot="0">
              <a:off x="0" y="0"/>
              <a:ext cx="3733038" cy="1443482"/>
            </a:xfrm>
            <a:custGeom>
              <a:avLst/>
              <a:gdLst/>
              <a:ahLst/>
              <a:cxnLst/>
              <a:rect r="r" b="b" t="t" l="l"/>
              <a:pathLst>
                <a:path h="1443482" w="3733038">
                  <a:moveTo>
                    <a:pt x="0" y="0"/>
                  </a:moveTo>
                  <a:lnTo>
                    <a:pt x="3733038" y="0"/>
                  </a:lnTo>
                  <a:lnTo>
                    <a:pt x="3733038" y="1443482"/>
                  </a:lnTo>
                  <a:lnTo>
                    <a:pt x="0" y="1443482"/>
                  </a:lnTo>
                  <a:lnTo>
                    <a:pt x="0" y="0"/>
                  </a:lnTo>
                  <a:close/>
                </a:path>
              </a:pathLst>
            </a:custGeom>
            <a:blipFill>
              <a:blip r:embed="rId4"/>
              <a:stretch>
                <a:fillRect l="0" t="0" r="0" b="-193"/>
              </a:stretch>
            </a:blipFill>
          </p:spPr>
        </p:sp>
      </p:grpSp>
      <p:sp>
        <p:nvSpPr>
          <p:cNvPr name="TextBox 5" id="5"/>
          <p:cNvSpPr txBox="true"/>
          <p:nvPr/>
        </p:nvSpPr>
        <p:spPr>
          <a:xfrm rot="0">
            <a:off x="1028700" y="2415149"/>
            <a:ext cx="13725411" cy="2219321"/>
          </a:xfrm>
          <a:prstGeom prst="rect">
            <a:avLst/>
          </a:prstGeom>
        </p:spPr>
        <p:txBody>
          <a:bodyPr anchor="t" rtlCol="false" tIns="0" lIns="0" bIns="0" rIns="0">
            <a:spAutoFit/>
          </a:bodyPr>
          <a:lstStyle/>
          <a:p>
            <a:pPr algn="l">
              <a:lnSpc>
                <a:spcPts val="8737"/>
              </a:lnSpc>
            </a:pPr>
            <a:r>
              <a:rPr lang="en-US" b="true" sz="7281">
                <a:solidFill>
                  <a:srgbClr val="FFFFFF"/>
                </a:solidFill>
                <a:latin typeface="Rubik Bold"/>
                <a:ea typeface="Rubik Bold"/>
                <a:cs typeface="Rubik Bold"/>
                <a:sym typeface="Rubik Bold"/>
              </a:rPr>
              <a:t>Analysis &amp; Design of KlinikGo On</a:t>
            </a:r>
            <a:r>
              <a:rPr lang="en-US" b="true" sz="7281">
                <a:solidFill>
                  <a:srgbClr val="FFFFFF"/>
                </a:solidFill>
                <a:latin typeface="Rubik Bold"/>
                <a:ea typeface="Rubik Bold"/>
                <a:cs typeface="Rubik Bold"/>
                <a:sym typeface="Rubik Bold"/>
              </a:rPr>
              <a:t>line Registration System</a:t>
            </a:r>
          </a:p>
        </p:txBody>
      </p:sp>
      <p:sp>
        <p:nvSpPr>
          <p:cNvPr name="TextBox 6" id="6"/>
          <p:cNvSpPr txBox="true"/>
          <p:nvPr/>
        </p:nvSpPr>
        <p:spPr>
          <a:xfrm rot="0">
            <a:off x="1127227" y="5083983"/>
            <a:ext cx="9626646" cy="1209675"/>
          </a:xfrm>
          <a:prstGeom prst="rect">
            <a:avLst/>
          </a:prstGeom>
        </p:spPr>
        <p:txBody>
          <a:bodyPr anchor="t" rtlCol="false" tIns="0" lIns="0" bIns="0" rIns="0">
            <a:spAutoFit/>
          </a:bodyPr>
          <a:lstStyle/>
          <a:p>
            <a:pPr algn="l">
              <a:lnSpc>
                <a:spcPts val="4758"/>
              </a:lnSpc>
            </a:pPr>
            <a:r>
              <a:rPr lang="en-US" b="true" sz="3965">
                <a:solidFill>
                  <a:srgbClr val="FFFFFF"/>
                </a:solidFill>
                <a:latin typeface="Rubik Bold"/>
                <a:ea typeface="Rubik Bold"/>
                <a:cs typeface="Rubik Bold"/>
                <a:sym typeface="Rubik Bold"/>
              </a:rPr>
              <a:t>Klinikgo He</a:t>
            </a:r>
            <a:r>
              <a:rPr lang="en-US" b="true" sz="3965">
                <a:solidFill>
                  <a:srgbClr val="FFFFFF"/>
                </a:solidFill>
                <a:latin typeface="Rubik Bold"/>
                <a:ea typeface="Rubik Bold"/>
                <a:cs typeface="Rubik Bold"/>
                <a:sym typeface="Rubik Bold"/>
              </a:rPr>
              <a:t>alth System Analyst Project-Based Internship Program </a:t>
            </a:r>
          </a:p>
        </p:txBody>
      </p:sp>
      <p:sp>
        <p:nvSpPr>
          <p:cNvPr name="TextBox 7" id="7"/>
          <p:cNvSpPr txBox="true"/>
          <p:nvPr/>
        </p:nvSpPr>
        <p:spPr>
          <a:xfrm rot="0">
            <a:off x="1127227" y="7174184"/>
            <a:ext cx="8601151" cy="1219200"/>
          </a:xfrm>
          <a:prstGeom prst="rect">
            <a:avLst/>
          </a:prstGeom>
        </p:spPr>
        <p:txBody>
          <a:bodyPr anchor="t" rtlCol="false" tIns="0" lIns="0" bIns="0" rIns="0">
            <a:spAutoFit/>
          </a:bodyPr>
          <a:lstStyle/>
          <a:p>
            <a:pPr algn="l">
              <a:lnSpc>
                <a:spcPts val="4800"/>
              </a:lnSpc>
            </a:pPr>
            <a:r>
              <a:rPr lang="en-US" sz="4000">
                <a:solidFill>
                  <a:srgbClr val="FFFFFF"/>
                </a:solidFill>
                <a:latin typeface="Rubik Light"/>
                <a:ea typeface="Rubik Light"/>
                <a:cs typeface="Rubik Light"/>
                <a:sym typeface="Rubik Light"/>
              </a:rPr>
              <a:t>Presented by</a:t>
            </a:r>
          </a:p>
          <a:p>
            <a:pPr algn="l">
              <a:lnSpc>
                <a:spcPts val="4800"/>
              </a:lnSpc>
            </a:pPr>
            <a:r>
              <a:rPr lang="en-US" sz="4000">
                <a:solidFill>
                  <a:srgbClr val="FFFFFF"/>
                </a:solidFill>
                <a:latin typeface="Rubik Light"/>
                <a:ea typeface="Rubik Light"/>
                <a:cs typeface="Rubik Light"/>
                <a:sym typeface="Rubik Light"/>
              </a:rPr>
              <a:t>Adinda Aulia Balqis</a:t>
            </a:r>
          </a:p>
        </p:txBody>
      </p:sp>
      <p:grpSp>
        <p:nvGrpSpPr>
          <p:cNvPr name="Group 8" id="8"/>
          <p:cNvGrpSpPr/>
          <p:nvPr/>
        </p:nvGrpSpPr>
        <p:grpSpPr>
          <a:xfrm rot="5400000">
            <a:off x="4479117" y="1219103"/>
            <a:ext cx="9329765" cy="8948959"/>
            <a:chOff x="0" y="0"/>
            <a:chExt cx="622300" cy="596900"/>
          </a:xfrm>
        </p:grpSpPr>
        <p:sp>
          <p:nvSpPr>
            <p:cNvPr name="Freeform 9" id="9"/>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true">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sp>
        <p:sp>
          <p:nvSpPr>
            <p:cNvPr name="TextBox 10" id="10"/>
            <p:cNvSpPr txBox="true"/>
            <p:nvPr/>
          </p:nvSpPr>
          <p:spPr>
            <a:xfrm>
              <a:off x="0" y="174625"/>
              <a:ext cx="622300" cy="295275"/>
            </a:xfrm>
            <a:prstGeom prst="rect">
              <a:avLst/>
            </a:prstGeom>
          </p:spPr>
          <p:txBody>
            <a:bodyPr anchor="ctr" rtlCol="false" tIns="50800" lIns="50800" bIns="50800" rIns="50800"/>
            <a:lstStyle/>
            <a:p>
              <a:pPr algn="ctr">
                <a:lnSpc>
                  <a:spcPts val="1800"/>
                </a:lnSpc>
              </a:pPr>
            </a:p>
          </p:txBody>
        </p:sp>
      </p:grpSp>
      <p:sp>
        <p:nvSpPr>
          <p:cNvPr name="Freeform 11" id="11"/>
          <p:cNvSpPr/>
          <p:nvPr/>
        </p:nvSpPr>
        <p:spPr>
          <a:xfrm flipH="false" flipV="false" rot="0">
            <a:off x="4669521" y="519946"/>
            <a:ext cx="2289180" cy="712507"/>
          </a:xfrm>
          <a:custGeom>
            <a:avLst/>
            <a:gdLst/>
            <a:ahLst/>
            <a:cxnLst/>
            <a:rect r="r" b="b" t="t" l="l"/>
            <a:pathLst>
              <a:path h="712507" w="2289180">
                <a:moveTo>
                  <a:pt x="0" y="0"/>
                </a:moveTo>
                <a:lnTo>
                  <a:pt x="2289180" y="0"/>
                </a:lnTo>
                <a:lnTo>
                  <a:pt x="2289180" y="712508"/>
                </a:lnTo>
                <a:lnTo>
                  <a:pt x="0" y="712508"/>
                </a:lnTo>
                <a:lnTo>
                  <a:pt x="0" y="0"/>
                </a:lnTo>
                <a:close/>
              </a:path>
            </a:pathLst>
          </a:custGeom>
          <a:blipFill>
            <a:blip r:embed="rId5"/>
            <a:stretch>
              <a:fillRect l="0" t="0" r="0" b="0"/>
            </a:stretch>
          </a:blipFill>
        </p:spPr>
      </p:sp>
      <p:sp>
        <p:nvSpPr>
          <p:cNvPr name="TextBox 12" id="12"/>
          <p:cNvSpPr txBox="true"/>
          <p:nvPr/>
        </p:nvSpPr>
        <p:spPr>
          <a:xfrm rot="0">
            <a:off x="3629673" y="417271"/>
            <a:ext cx="732749" cy="1129198"/>
          </a:xfrm>
          <a:prstGeom prst="rect">
            <a:avLst/>
          </a:prstGeom>
        </p:spPr>
        <p:txBody>
          <a:bodyPr anchor="t" rtlCol="false" tIns="0" lIns="0" bIns="0" rIns="0">
            <a:spAutoFit/>
          </a:bodyPr>
          <a:lstStyle/>
          <a:p>
            <a:pPr algn="l">
              <a:lnSpc>
                <a:spcPts val="7200"/>
              </a:lnSpc>
            </a:pPr>
            <a:r>
              <a:rPr lang="en-US" sz="6000">
                <a:solidFill>
                  <a:srgbClr val="FFFFFF"/>
                </a:solidFill>
                <a:latin typeface="Rubik"/>
                <a:ea typeface="Rubik"/>
                <a:cs typeface="Rubik"/>
                <a:sym typeface="Rubik"/>
              </a:rPr>
              <a:t>X</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EDE2"/>
        </a:solidFill>
      </p:bgPr>
    </p:bg>
    <p:spTree>
      <p:nvGrpSpPr>
        <p:cNvPr id="1" name=""/>
        <p:cNvGrpSpPr/>
        <p:nvPr/>
      </p:nvGrpSpPr>
      <p:grpSpPr>
        <a:xfrm>
          <a:off x="0" y="0"/>
          <a:ext cx="0" cy="0"/>
          <a:chOff x="0" y="0"/>
          <a:chExt cx="0" cy="0"/>
        </a:xfrm>
      </p:grpSpPr>
      <p:grpSp>
        <p:nvGrpSpPr>
          <p:cNvPr name="Group 2" id="2"/>
          <p:cNvGrpSpPr/>
          <p:nvPr/>
        </p:nvGrpSpPr>
        <p:grpSpPr>
          <a:xfrm rot="0">
            <a:off x="14635201" y="371246"/>
            <a:ext cx="2799807" cy="1082602"/>
            <a:chOff x="0" y="0"/>
            <a:chExt cx="3733076" cy="1443469"/>
          </a:xfrm>
        </p:grpSpPr>
        <p:sp>
          <p:nvSpPr>
            <p:cNvPr name="Freeform 3" id="3"/>
            <p:cNvSpPr/>
            <p:nvPr/>
          </p:nvSpPr>
          <p:spPr>
            <a:xfrm flipH="false" flipV="false" rot="0">
              <a:off x="0" y="0"/>
              <a:ext cx="3733038" cy="1443482"/>
            </a:xfrm>
            <a:custGeom>
              <a:avLst/>
              <a:gdLst/>
              <a:ahLst/>
              <a:cxnLst/>
              <a:rect r="r" b="b" t="t" l="l"/>
              <a:pathLst>
                <a:path h="1443482" w="3733038">
                  <a:moveTo>
                    <a:pt x="0" y="0"/>
                  </a:moveTo>
                  <a:lnTo>
                    <a:pt x="3733038" y="0"/>
                  </a:lnTo>
                  <a:lnTo>
                    <a:pt x="3733038" y="1443482"/>
                  </a:lnTo>
                  <a:lnTo>
                    <a:pt x="0" y="1443482"/>
                  </a:lnTo>
                  <a:lnTo>
                    <a:pt x="0" y="0"/>
                  </a:lnTo>
                  <a:close/>
                </a:path>
              </a:pathLst>
            </a:custGeom>
            <a:blipFill>
              <a:blip r:embed="rId3"/>
              <a:stretch>
                <a:fillRect l="0" t="-6380" r="-1" b="-6372"/>
              </a:stretch>
            </a:blipFill>
          </p:spPr>
        </p:sp>
      </p:grpSp>
      <p:sp>
        <p:nvSpPr>
          <p:cNvPr name="Freeform 4" id="4"/>
          <p:cNvSpPr/>
          <p:nvPr/>
        </p:nvSpPr>
        <p:spPr>
          <a:xfrm flipH="false" flipV="false" rot="0">
            <a:off x="21903" y="0"/>
            <a:ext cx="8722537" cy="10287000"/>
          </a:xfrm>
          <a:custGeom>
            <a:avLst/>
            <a:gdLst/>
            <a:ahLst/>
            <a:cxnLst/>
            <a:rect r="r" b="b" t="t" l="l"/>
            <a:pathLst>
              <a:path h="10287000" w="8722537">
                <a:moveTo>
                  <a:pt x="0" y="0"/>
                </a:moveTo>
                <a:lnTo>
                  <a:pt x="8722536" y="0"/>
                </a:lnTo>
                <a:lnTo>
                  <a:pt x="8722536" y="10287000"/>
                </a:lnTo>
                <a:lnTo>
                  <a:pt x="0" y="10287000"/>
                </a:lnTo>
                <a:lnTo>
                  <a:pt x="0" y="0"/>
                </a:lnTo>
                <a:close/>
              </a:path>
            </a:pathLst>
          </a:custGeom>
          <a:blipFill>
            <a:blip r:embed="rId4"/>
            <a:stretch>
              <a:fillRect l="-44188" t="0" r="-32826" b="0"/>
            </a:stretch>
          </a:blipFill>
        </p:spPr>
      </p:sp>
      <p:grpSp>
        <p:nvGrpSpPr>
          <p:cNvPr name="Group 5" id="5"/>
          <p:cNvGrpSpPr/>
          <p:nvPr/>
        </p:nvGrpSpPr>
        <p:grpSpPr>
          <a:xfrm rot="0">
            <a:off x="2210029" y="1028700"/>
            <a:ext cx="4346284" cy="4230953"/>
            <a:chOff x="0" y="0"/>
            <a:chExt cx="5064798" cy="4930400"/>
          </a:xfrm>
        </p:grpSpPr>
        <p:sp>
          <p:nvSpPr>
            <p:cNvPr name="Freeform 6" id="6"/>
            <p:cNvSpPr/>
            <p:nvPr/>
          </p:nvSpPr>
          <p:spPr>
            <a:xfrm flipH="false" flipV="false" rot="0">
              <a:off x="0" y="0"/>
              <a:ext cx="5064760" cy="4930400"/>
            </a:xfrm>
            <a:custGeom>
              <a:avLst/>
              <a:gdLst/>
              <a:ahLst/>
              <a:cxnLst/>
              <a:rect r="r" b="b" t="t" l="l"/>
              <a:pathLst>
                <a:path h="4930400" w="5064760">
                  <a:moveTo>
                    <a:pt x="0" y="2465200"/>
                  </a:moveTo>
                  <a:cubicBezTo>
                    <a:pt x="0" y="1103758"/>
                    <a:pt x="1133856" y="0"/>
                    <a:pt x="2532380" y="0"/>
                  </a:cubicBezTo>
                  <a:cubicBezTo>
                    <a:pt x="3930904" y="0"/>
                    <a:pt x="5064760" y="1103758"/>
                    <a:pt x="5064760" y="2465200"/>
                  </a:cubicBezTo>
                  <a:cubicBezTo>
                    <a:pt x="5064760" y="3826642"/>
                    <a:pt x="3931031" y="4930400"/>
                    <a:pt x="2532380" y="4930400"/>
                  </a:cubicBezTo>
                  <a:cubicBezTo>
                    <a:pt x="1133729" y="4930400"/>
                    <a:pt x="0" y="3826642"/>
                    <a:pt x="0" y="2465200"/>
                  </a:cubicBezTo>
                  <a:close/>
                </a:path>
              </a:pathLst>
            </a:custGeom>
            <a:blipFill>
              <a:blip r:embed="rId5"/>
              <a:stretch>
                <a:fillRect l="0" t="-2725" r="0" b="0"/>
              </a:stretch>
            </a:blipFill>
            <a:ln w="38100" cap="sq">
              <a:solidFill>
                <a:srgbClr val="F4EDE2"/>
              </a:solidFill>
              <a:prstDash val="solid"/>
              <a:miter/>
            </a:ln>
          </p:spPr>
        </p:sp>
        <p:sp>
          <p:nvSpPr>
            <p:cNvPr name="TextBox 7" id="7"/>
            <p:cNvSpPr txBox="true"/>
            <p:nvPr/>
          </p:nvSpPr>
          <p:spPr>
            <a:xfrm>
              <a:off x="0" y="0"/>
              <a:ext cx="5064798" cy="4930400"/>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0">
            <a:off x="10181625" y="2923880"/>
            <a:ext cx="76048" cy="2002650"/>
            <a:chOff x="0" y="0"/>
            <a:chExt cx="101397" cy="2670200"/>
          </a:xfrm>
        </p:grpSpPr>
        <p:sp>
          <p:nvSpPr>
            <p:cNvPr name="Freeform 9" id="9"/>
            <p:cNvSpPr/>
            <p:nvPr/>
          </p:nvSpPr>
          <p:spPr>
            <a:xfrm flipH="false" flipV="false" rot="0">
              <a:off x="12700" y="12700"/>
              <a:ext cx="75946" cy="2644775"/>
            </a:xfrm>
            <a:custGeom>
              <a:avLst/>
              <a:gdLst/>
              <a:ahLst/>
              <a:cxnLst/>
              <a:rect r="r" b="b" t="t" l="l"/>
              <a:pathLst>
                <a:path h="2644775" w="75946">
                  <a:moveTo>
                    <a:pt x="0" y="0"/>
                  </a:moveTo>
                  <a:lnTo>
                    <a:pt x="75946" y="0"/>
                  </a:lnTo>
                  <a:lnTo>
                    <a:pt x="75946" y="2644775"/>
                  </a:lnTo>
                  <a:lnTo>
                    <a:pt x="0" y="2644775"/>
                  </a:lnTo>
                  <a:close/>
                </a:path>
              </a:pathLst>
            </a:custGeom>
            <a:solidFill>
              <a:srgbClr val="0097A7"/>
            </a:solidFill>
          </p:spPr>
        </p:sp>
        <p:sp>
          <p:nvSpPr>
            <p:cNvPr name="Freeform 10" id="10"/>
            <p:cNvSpPr/>
            <p:nvPr/>
          </p:nvSpPr>
          <p:spPr>
            <a:xfrm flipH="false" flipV="false" rot="0">
              <a:off x="0" y="0"/>
              <a:ext cx="101346" cy="2670175"/>
            </a:xfrm>
            <a:custGeom>
              <a:avLst/>
              <a:gdLst/>
              <a:ahLst/>
              <a:cxnLst/>
              <a:rect r="r" b="b" t="t" l="l"/>
              <a:pathLst>
                <a:path h="2670175" w="101346">
                  <a:moveTo>
                    <a:pt x="12700" y="0"/>
                  </a:moveTo>
                  <a:lnTo>
                    <a:pt x="88646" y="0"/>
                  </a:lnTo>
                  <a:cubicBezTo>
                    <a:pt x="95631" y="0"/>
                    <a:pt x="101346" y="5715"/>
                    <a:pt x="101346" y="12700"/>
                  </a:cubicBezTo>
                  <a:lnTo>
                    <a:pt x="101346" y="2657475"/>
                  </a:lnTo>
                  <a:cubicBezTo>
                    <a:pt x="101346" y="2664460"/>
                    <a:pt x="95631" y="2670175"/>
                    <a:pt x="88646" y="2670175"/>
                  </a:cubicBezTo>
                  <a:lnTo>
                    <a:pt x="12700" y="2670175"/>
                  </a:lnTo>
                  <a:cubicBezTo>
                    <a:pt x="5715" y="2670175"/>
                    <a:pt x="0" y="2664460"/>
                    <a:pt x="0" y="2657475"/>
                  </a:cubicBezTo>
                  <a:lnTo>
                    <a:pt x="0" y="12700"/>
                  </a:lnTo>
                  <a:cubicBezTo>
                    <a:pt x="0" y="5715"/>
                    <a:pt x="5715" y="0"/>
                    <a:pt x="12700" y="0"/>
                  </a:cubicBezTo>
                  <a:moveTo>
                    <a:pt x="12700" y="25400"/>
                  </a:moveTo>
                  <a:lnTo>
                    <a:pt x="12700" y="12700"/>
                  </a:lnTo>
                  <a:lnTo>
                    <a:pt x="25400" y="12700"/>
                  </a:lnTo>
                  <a:lnTo>
                    <a:pt x="25400" y="2657475"/>
                  </a:lnTo>
                  <a:lnTo>
                    <a:pt x="12700" y="2657475"/>
                  </a:lnTo>
                  <a:lnTo>
                    <a:pt x="12700" y="2644775"/>
                  </a:lnTo>
                  <a:lnTo>
                    <a:pt x="88646" y="2644775"/>
                  </a:lnTo>
                  <a:lnTo>
                    <a:pt x="88646" y="2657475"/>
                  </a:lnTo>
                  <a:lnTo>
                    <a:pt x="75946" y="2657475"/>
                  </a:lnTo>
                  <a:lnTo>
                    <a:pt x="75946" y="12700"/>
                  </a:lnTo>
                  <a:lnTo>
                    <a:pt x="88646" y="12700"/>
                  </a:lnTo>
                  <a:lnTo>
                    <a:pt x="88646" y="25400"/>
                  </a:lnTo>
                  <a:lnTo>
                    <a:pt x="12700" y="25400"/>
                  </a:lnTo>
                  <a:close/>
                </a:path>
              </a:pathLst>
            </a:custGeom>
            <a:solidFill>
              <a:srgbClr val="0097A7"/>
            </a:solidFill>
          </p:spPr>
        </p:sp>
      </p:grpSp>
      <p:grpSp>
        <p:nvGrpSpPr>
          <p:cNvPr name="Group 11" id="11"/>
          <p:cNvGrpSpPr/>
          <p:nvPr/>
        </p:nvGrpSpPr>
        <p:grpSpPr>
          <a:xfrm rot="0">
            <a:off x="10171034" y="5190830"/>
            <a:ext cx="86638" cy="2281545"/>
            <a:chOff x="0" y="0"/>
            <a:chExt cx="101397" cy="2670200"/>
          </a:xfrm>
        </p:grpSpPr>
        <p:sp>
          <p:nvSpPr>
            <p:cNvPr name="Freeform 12" id="12"/>
            <p:cNvSpPr/>
            <p:nvPr/>
          </p:nvSpPr>
          <p:spPr>
            <a:xfrm flipH="false" flipV="false" rot="0">
              <a:off x="12700" y="12700"/>
              <a:ext cx="75946" cy="2644775"/>
            </a:xfrm>
            <a:custGeom>
              <a:avLst/>
              <a:gdLst/>
              <a:ahLst/>
              <a:cxnLst/>
              <a:rect r="r" b="b" t="t" l="l"/>
              <a:pathLst>
                <a:path h="2644775" w="75946">
                  <a:moveTo>
                    <a:pt x="0" y="0"/>
                  </a:moveTo>
                  <a:lnTo>
                    <a:pt x="75946" y="0"/>
                  </a:lnTo>
                  <a:lnTo>
                    <a:pt x="75946" y="2644775"/>
                  </a:lnTo>
                  <a:lnTo>
                    <a:pt x="0" y="2644775"/>
                  </a:lnTo>
                  <a:close/>
                </a:path>
              </a:pathLst>
            </a:custGeom>
            <a:solidFill>
              <a:srgbClr val="0097A7"/>
            </a:solidFill>
          </p:spPr>
        </p:sp>
        <p:sp>
          <p:nvSpPr>
            <p:cNvPr name="Freeform 13" id="13"/>
            <p:cNvSpPr/>
            <p:nvPr/>
          </p:nvSpPr>
          <p:spPr>
            <a:xfrm flipH="false" flipV="false" rot="0">
              <a:off x="0" y="0"/>
              <a:ext cx="101346" cy="2670175"/>
            </a:xfrm>
            <a:custGeom>
              <a:avLst/>
              <a:gdLst/>
              <a:ahLst/>
              <a:cxnLst/>
              <a:rect r="r" b="b" t="t" l="l"/>
              <a:pathLst>
                <a:path h="2670175" w="101346">
                  <a:moveTo>
                    <a:pt x="12700" y="0"/>
                  </a:moveTo>
                  <a:lnTo>
                    <a:pt x="88646" y="0"/>
                  </a:lnTo>
                  <a:cubicBezTo>
                    <a:pt x="95631" y="0"/>
                    <a:pt x="101346" y="5715"/>
                    <a:pt x="101346" y="12700"/>
                  </a:cubicBezTo>
                  <a:lnTo>
                    <a:pt x="101346" y="2657475"/>
                  </a:lnTo>
                  <a:cubicBezTo>
                    <a:pt x="101346" y="2664460"/>
                    <a:pt x="95631" y="2670175"/>
                    <a:pt x="88646" y="2670175"/>
                  </a:cubicBezTo>
                  <a:lnTo>
                    <a:pt x="12700" y="2670175"/>
                  </a:lnTo>
                  <a:cubicBezTo>
                    <a:pt x="5715" y="2670175"/>
                    <a:pt x="0" y="2664460"/>
                    <a:pt x="0" y="2657475"/>
                  </a:cubicBezTo>
                  <a:lnTo>
                    <a:pt x="0" y="12700"/>
                  </a:lnTo>
                  <a:cubicBezTo>
                    <a:pt x="0" y="5715"/>
                    <a:pt x="5715" y="0"/>
                    <a:pt x="12700" y="0"/>
                  </a:cubicBezTo>
                  <a:moveTo>
                    <a:pt x="12700" y="25400"/>
                  </a:moveTo>
                  <a:lnTo>
                    <a:pt x="12700" y="12700"/>
                  </a:lnTo>
                  <a:lnTo>
                    <a:pt x="25400" y="12700"/>
                  </a:lnTo>
                  <a:lnTo>
                    <a:pt x="25400" y="2657475"/>
                  </a:lnTo>
                  <a:lnTo>
                    <a:pt x="12700" y="2657475"/>
                  </a:lnTo>
                  <a:lnTo>
                    <a:pt x="12700" y="2644775"/>
                  </a:lnTo>
                  <a:lnTo>
                    <a:pt x="88646" y="2644775"/>
                  </a:lnTo>
                  <a:lnTo>
                    <a:pt x="88646" y="2657475"/>
                  </a:lnTo>
                  <a:lnTo>
                    <a:pt x="75946" y="2657475"/>
                  </a:lnTo>
                  <a:lnTo>
                    <a:pt x="75946" y="12700"/>
                  </a:lnTo>
                  <a:lnTo>
                    <a:pt x="88646" y="12700"/>
                  </a:lnTo>
                  <a:lnTo>
                    <a:pt x="88646" y="25400"/>
                  </a:lnTo>
                  <a:lnTo>
                    <a:pt x="12700" y="25400"/>
                  </a:lnTo>
                  <a:close/>
                </a:path>
              </a:pathLst>
            </a:custGeom>
            <a:solidFill>
              <a:srgbClr val="0097A7"/>
            </a:solidFill>
          </p:spPr>
        </p:sp>
      </p:grpSp>
      <p:grpSp>
        <p:nvGrpSpPr>
          <p:cNvPr name="Group 14" id="14"/>
          <p:cNvGrpSpPr/>
          <p:nvPr/>
        </p:nvGrpSpPr>
        <p:grpSpPr>
          <a:xfrm rot="0">
            <a:off x="9991725" y="2659723"/>
            <a:ext cx="455847" cy="455847"/>
            <a:chOff x="0" y="0"/>
            <a:chExt cx="607797" cy="607797"/>
          </a:xfrm>
        </p:grpSpPr>
        <p:sp>
          <p:nvSpPr>
            <p:cNvPr name="Freeform 15" id="15"/>
            <p:cNvSpPr/>
            <p:nvPr/>
          </p:nvSpPr>
          <p:spPr>
            <a:xfrm flipH="false" flipV="false" rot="0">
              <a:off x="12700" y="12700"/>
              <a:ext cx="582422" cy="582422"/>
            </a:xfrm>
            <a:custGeom>
              <a:avLst/>
              <a:gdLst/>
              <a:ahLst/>
              <a:cxnLst/>
              <a:rect r="r" b="b" t="t" l="l"/>
              <a:pathLst>
                <a:path h="582422" w="582422">
                  <a:moveTo>
                    <a:pt x="0" y="291211"/>
                  </a:moveTo>
                  <a:cubicBezTo>
                    <a:pt x="0" y="130429"/>
                    <a:pt x="130429" y="0"/>
                    <a:pt x="291211" y="0"/>
                  </a:cubicBezTo>
                  <a:cubicBezTo>
                    <a:pt x="451993" y="0"/>
                    <a:pt x="582422" y="130429"/>
                    <a:pt x="582422" y="291211"/>
                  </a:cubicBezTo>
                  <a:cubicBezTo>
                    <a:pt x="582422" y="451993"/>
                    <a:pt x="451993" y="582422"/>
                    <a:pt x="291211" y="582422"/>
                  </a:cubicBezTo>
                  <a:cubicBezTo>
                    <a:pt x="130429" y="582422"/>
                    <a:pt x="0" y="451993"/>
                    <a:pt x="0" y="291211"/>
                  </a:cubicBezTo>
                  <a:close/>
                </a:path>
              </a:pathLst>
            </a:custGeom>
            <a:solidFill>
              <a:srgbClr val="FFAB40"/>
            </a:solidFill>
          </p:spPr>
        </p:sp>
        <p:sp>
          <p:nvSpPr>
            <p:cNvPr name="Freeform 16" id="16"/>
            <p:cNvSpPr/>
            <p:nvPr/>
          </p:nvSpPr>
          <p:spPr>
            <a:xfrm flipH="false" flipV="false" rot="0">
              <a:off x="0" y="0"/>
              <a:ext cx="607822" cy="607822"/>
            </a:xfrm>
            <a:custGeom>
              <a:avLst/>
              <a:gdLst/>
              <a:ahLst/>
              <a:cxnLst/>
              <a:rect r="r" b="b" t="t" l="l"/>
              <a:pathLst>
                <a:path h="607822" w="607822">
                  <a:moveTo>
                    <a:pt x="0" y="303911"/>
                  </a:moveTo>
                  <a:cubicBezTo>
                    <a:pt x="0" y="136017"/>
                    <a:pt x="136017" y="0"/>
                    <a:pt x="303911" y="0"/>
                  </a:cubicBezTo>
                  <a:lnTo>
                    <a:pt x="303911" y="12700"/>
                  </a:lnTo>
                  <a:lnTo>
                    <a:pt x="303911" y="0"/>
                  </a:lnTo>
                  <a:cubicBezTo>
                    <a:pt x="471678" y="0"/>
                    <a:pt x="607822" y="136017"/>
                    <a:pt x="607822" y="303911"/>
                  </a:cubicBezTo>
                  <a:lnTo>
                    <a:pt x="595122" y="303911"/>
                  </a:lnTo>
                  <a:lnTo>
                    <a:pt x="607822" y="303911"/>
                  </a:lnTo>
                  <a:cubicBezTo>
                    <a:pt x="607822" y="471805"/>
                    <a:pt x="471805" y="607822"/>
                    <a:pt x="303911" y="607822"/>
                  </a:cubicBezTo>
                  <a:lnTo>
                    <a:pt x="303911" y="595122"/>
                  </a:lnTo>
                  <a:lnTo>
                    <a:pt x="303911" y="607822"/>
                  </a:lnTo>
                  <a:cubicBezTo>
                    <a:pt x="136017" y="607822"/>
                    <a:pt x="0" y="471678"/>
                    <a:pt x="0" y="303911"/>
                  </a:cubicBezTo>
                  <a:lnTo>
                    <a:pt x="12700" y="303911"/>
                  </a:lnTo>
                  <a:lnTo>
                    <a:pt x="25400" y="303911"/>
                  </a:lnTo>
                  <a:lnTo>
                    <a:pt x="12700" y="303911"/>
                  </a:lnTo>
                  <a:lnTo>
                    <a:pt x="0" y="303911"/>
                  </a:lnTo>
                  <a:moveTo>
                    <a:pt x="25400" y="303911"/>
                  </a:moveTo>
                  <a:cubicBezTo>
                    <a:pt x="25400" y="310896"/>
                    <a:pt x="19685" y="316611"/>
                    <a:pt x="12700" y="316611"/>
                  </a:cubicBezTo>
                  <a:cubicBezTo>
                    <a:pt x="5715" y="316611"/>
                    <a:pt x="0" y="310896"/>
                    <a:pt x="0" y="303911"/>
                  </a:cubicBezTo>
                  <a:cubicBezTo>
                    <a:pt x="0" y="296926"/>
                    <a:pt x="5715" y="291211"/>
                    <a:pt x="12700" y="291211"/>
                  </a:cubicBezTo>
                  <a:cubicBezTo>
                    <a:pt x="19685" y="291211"/>
                    <a:pt x="25400" y="296926"/>
                    <a:pt x="25400" y="303911"/>
                  </a:cubicBezTo>
                  <a:cubicBezTo>
                    <a:pt x="25400" y="457708"/>
                    <a:pt x="150114" y="582422"/>
                    <a:pt x="303911" y="582422"/>
                  </a:cubicBezTo>
                  <a:cubicBezTo>
                    <a:pt x="457708" y="582422"/>
                    <a:pt x="582422" y="457708"/>
                    <a:pt x="582422" y="303911"/>
                  </a:cubicBezTo>
                  <a:cubicBezTo>
                    <a:pt x="582422" y="150114"/>
                    <a:pt x="457708" y="25400"/>
                    <a:pt x="303911" y="25400"/>
                  </a:cubicBezTo>
                  <a:lnTo>
                    <a:pt x="303911" y="12700"/>
                  </a:lnTo>
                  <a:lnTo>
                    <a:pt x="303911" y="25400"/>
                  </a:lnTo>
                  <a:cubicBezTo>
                    <a:pt x="150114" y="25400"/>
                    <a:pt x="25400" y="150114"/>
                    <a:pt x="25400" y="303911"/>
                  </a:cubicBezTo>
                  <a:close/>
                </a:path>
              </a:pathLst>
            </a:custGeom>
            <a:solidFill>
              <a:srgbClr val="FFAB40"/>
            </a:solidFill>
          </p:spPr>
        </p:sp>
      </p:grpSp>
      <p:grpSp>
        <p:nvGrpSpPr>
          <p:cNvPr name="Group 17" id="17"/>
          <p:cNvGrpSpPr/>
          <p:nvPr/>
        </p:nvGrpSpPr>
        <p:grpSpPr>
          <a:xfrm rot="0">
            <a:off x="9991725" y="4828327"/>
            <a:ext cx="455847" cy="455847"/>
            <a:chOff x="0" y="0"/>
            <a:chExt cx="607797" cy="607797"/>
          </a:xfrm>
        </p:grpSpPr>
        <p:sp>
          <p:nvSpPr>
            <p:cNvPr name="Freeform 18" id="18"/>
            <p:cNvSpPr/>
            <p:nvPr/>
          </p:nvSpPr>
          <p:spPr>
            <a:xfrm flipH="false" flipV="false" rot="0">
              <a:off x="12700" y="12700"/>
              <a:ext cx="582422" cy="582422"/>
            </a:xfrm>
            <a:custGeom>
              <a:avLst/>
              <a:gdLst/>
              <a:ahLst/>
              <a:cxnLst/>
              <a:rect r="r" b="b" t="t" l="l"/>
              <a:pathLst>
                <a:path h="582422" w="582422">
                  <a:moveTo>
                    <a:pt x="0" y="291211"/>
                  </a:moveTo>
                  <a:cubicBezTo>
                    <a:pt x="0" y="130429"/>
                    <a:pt x="130429" y="0"/>
                    <a:pt x="291211" y="0"/>
                  </a:cubicBezTo>
                  <a:cubicBezTo>
                    <a:pt x="451993" y="0"/>
                    <a:pt x="582422" y="130429"/>
                    <a:pt x="582422" y="291211"/>
                  </a:cubicBezTo>
                  <a:cubicBezTo>
                    <a:pt x="582422" y="451993"/>
                    <a:pt x="451993" y="582422"/>
                    <a:pt x="291211" y="582422"/>
                  </a:cubicBezTo>
                  <a:cubicBezTo>
                    <a:pt x="130429" y="582422"/>
                    <a:pt x="0" y="451993"/>
                    <a:pt x="0" y="291211"/>
                  </a:cubicBezTo>
                  <a:close/>
                </a:path>
              </a:pathLst>
            </a:custGeom>
            <a:solidFill>
              <a:srgbClr val="FFAB40"/>
            </a:solidFill>
          </p:spPr>
        </p:sp>
        <p:sp>
          <p:nvSpPr>
            <p:cNvPr name="Freeform 19" id="19"/>
            <p:cNvSpPr/>
            <p:nvPr/>
          </p:nvSpPr>
          <p:spPr>
            <a:xfrm flipH="false" flipV="false" rot="0">
              <a:off x="0" y="0"/>
              <a:ext cx="607822" cy="607822"/>
            </a:xfrm>
            <a:custGeom>
              <a:avLst/>
              <a:gdLst/>
              <a:ahLst/>
              <a:cxnLst/>
              <a:rect r="r" b="b" t="t" l="l"/>
              <a:pathLst>
                <a:path h="607822" w="607822">
                  <a:moveTo>
                    <a:pt x="0" y="303911"/>
                  </a:moveTo>
                  <a:cubicBezTo>
                    <a:pt x="0" y="136017"/>
                    <a:pt x="136017" y="0"/>
                    <a:pt x="303911" y="0"/>
                  </a:cubicBezTo>
                  <a:lnTo>
                    <a:pt x="303911" y="12700"/>
                  </a:lnTo>
                  <a:lnTo>
                    <a:pt x="303911" y="0"/>
                  </a:lnTo>
                  <a:cubicBezTo>
                    <a:pt x="471678" y="0"/>
                    <a:pt x="607822" y="136017"/>
                    <a:pt x="607822" y="303911"/>
                  </a:cubicBezTo>
                  <a:lnTo>
                    <a:pt x="595122" y="303911"/>
                  </a:lnTo>
                  <a:lnTo>
                    <a:pt x="607822" y="303911"/>
                  </a:lnTo>
                  <a:cubicBezTo>
                    <a:pt x="607822" y="471805"/>
                    <a:pt x="471805" y="607822"/>
                    <a:pt x="303911" y="607822"/>
                  </a:cubicBezTo>
                  <a:lnTo>
                    <a:pt x="303911" y="595122"/>
                  </a:lnTo>
                  <a:lnTo>
                    <a:pt x="303911" y="607822"/>
                  </a:lnTo>
                  <a:cubicBezTo>
                    <a:pt x="136017" y="607822"/>
                    <a:pt x="0" y="471678"/>
                    <a:pt x="0" y="303911"/>
                  </a:cubicBezTo>
                  <a:lnTo>
                    <a:pt x="12700" y="303911"/>
                  </a:lnTo>
                  <a:lnTo>
                    <a:pt x="25400" y="303911"/>
                  </a:lnTo>
                  <a:lnTo>
                    <a:pt x="12700" y="303911"/>
                  </a:lnTo>
                  <a:lnTo>
                    <a:pt x="0" y="303911"/>
                  </a:lnTo>
                  <a:moveTo>
                    <a:pt x="25400" y="303911"/>
                  </a:moveTo>
                  <a:cubicBezTo>
                    <a:pt x="25400" y="310896"/>
                    <a:pt x="19685" y="316611"/>
                    <a:pt x="12700" y="316611"/>
                  </a:cubicBezTo>
                  <a:cubicBezTo>
                    <a:pt x="5715" y="316611"/>
                    <a:pt x="0" y="310896"/>
                    <a:pt x="0" y="303911"/>
                  </a:cubicBezTo>
                  <a:cubicBezTo>
                    <a:pt x="0" y="296926"/>
                    <a:pt x="5715" y="291211"/>
                    <a:pt x="12700" y="291211"/>
                  </a:cubicBezTo>
                  <a:cubicBezTo>
                    <a:pt x="19685" y="291211"/>
                    <a:pt x="25400" y="296926"/>
                    <a:pt x="25400" y="303911"/>
                  </a:cubicBezTo>
                  <a:cubicBezTo>
                    <a:pt x="25400" y="457708"/>
                    <a:pt x="150114" y="582422"/>
                    <a:pt x="303911" y="582422"/>
                  </a:cubicBezTo>
                  <a:cubicBezTo>
                    <a:pt x="457708" y="582422"/>
                    <a:pt x="582422" y="457708"/>
                    <a:pt x="582422" y="303911"/>
                  </a:cubicBezTo>
                  <a:cubicBezTo>
                    <a:pt x="582422" y="150114"/>
                    <a:pt x="457708" y="25400"/>
                    <a:pt x="303911" y="25400"/>
                  </a:cubicBezTo>
                  <a:lnTo>
                    <a:pt x="303911" y="12700"/>
                  </a:lnTo>
                  <a:lnTo>
                    <a:pt x="303911" y="25400"/>
                  </a:lnTo>
                  <a:cubicBezTo>
                    <a:pt x="150114" y="25400"/>
                    <a:pt x="25400" y="150114"/>
                    <a:pt x="25400" y="303911"/>
                  </a:cubicBezTo>
                  <a:close/>
                </a:path>
              </a:pathLst>
            </a:custGeom>
            <a:solidFill>
              <a:srgbClr val="FFAB40"/>
            </a:solidFill>
          </p:spPr>
        </p:sp>
      </p:grpSp>
      <p:grpSp>
        <p:nvGrpSpPr>
          <p:cNvPr name="Group 20" id="20"/>
          <p:cNvGrpSpPr/>
          <p:nvPr/>
        </p:nvGrpSpPr>
        <p:grpSpPr>
          <a:xfrm rot="0">
            <a:off x="9991725" y="7472375"/>
            <a:ext cx="455847" cy="455847"/>
            <a:chOff x="0" y="0"/>
            <a:chExt cx="607797" cy="607797"/>
          </a:xfrm>
        </p:grpSpPr>
        <p:sp>
          <p:nvSpPr>
            <p:cNvPr name="Freeform 21" id="21"/>
            <p:cNvSpPr/>
            <p:nvPr/>
          </p:nvSpPr>
          <p:spPr>
            <a:xfrm flipH="false" flipV="false" rot="0">
              <a:off x="12700" y="12700"/>
              <a:ext cx="582422" cy="582422"/>
            </a:xfrm>
            <a:custGeom>
              <a:avLst/>
              <a:gdLst/>
              <a:ahLst/>
              <a:cxnLst/>
              <a:rect r="r" b="b" t="t" l="l"/>
              <a:pathLst>
                <a:path h="582422" w="582422">
                  <a:moveTo>
                    <a:pt x="0" y="291211"/>
                  </a:moveTo>
                  <a:cubicBezTo>
                    <a:pt x="0" y="130429"/>
                    <a:pt x="130429" y="0"/>
                    <a:pt x="291211" y="0"/>
                  </a:cubicBezTo>
                  <a:cubicBezTo>
                    <a:pt x="451993" y="0"/>
                    <a:pt x="582422" y="130429"/>
                    <a:pt x="582422" y="291211"/>
                  </a:cubicBezTo>
                  <a:cubicBezTo>
                    <a:pt x="582422" y="451993"/>
                    <a:pt x="451993" y="582422"/>
                    <a:pt x="291211" y="582422"/>
                  </a:cubicBezTo>
                  <a:cubicBezTo>
                    <a:pt x="130429" y="582422"/>
                    <a:pt x="0" y="451993"/>
                    <a:pt x="0" y="291211"/>
                  </a:cubicBezTo>
                  <a:close/>
                </a:path>
              </a:pathLst>
            </a:custGeom>
            <a:solidFill>
              <a:srgbClr val="FFAB40"/>
            </a:solidFill>
          </p:spPr>
        </p:sp>
        <p:sp>
          <p:nvSpPr>
            <p:cNvPr name="Freeform 22" id="22"/>
            <p:cNvSpPr/>
            <p:nvPr/>
          </p:nvSpPr>
          <p:spPr>
            <a:xfrm flipH="false" flipV="false" rot="0">
              <a:off x="0" y="0"/>
              <a:ext cx="607822" cy="607822"/>
            </a:xfrm>
            <a:custGeom>
              <a:avLst/>
              <a:gdLst/>
              <a:ahLst/>
              <a:cxnLst/>
              <a:rect r="r" b="b" t="t" l="l"/>
              <a:pathLst>
                <a:path h="607822" w="607822">
                  <a:moveTo>
                    <a:pt x="0" y="303911"/>
                  </a:moveTo>
                  <a:cubicBezTo>
                    <a:pt x="0" y="136017"/>
                    <a:pt x="136017" y="0"/>
                    <a:pt x="303911" y="0"/>
                  </a:cubicBezTo>
                  <a:lnTo>
                    <a:pt x="303911" y="12700"/>
                  </a:lnTo>
                  <a:lnTo>
                    <a:pt x="303911" y="0"/>
                  </a:lnTo>
                  <a:cubicBezTo>
                    <a:pt x="471678" y="0"/>
                    <a:pt x="607822" y="136017"/>
                    <a:pt x="607822" y="303911"/>
                  </a:cubicBezTo>
                  <a:lnTo>
                    <a:pt x="595122" y="303911"/>
                  </a:lnTo>
                  <a:lnTo>
                    <a:pt x="607822" y="303911"/>
                  </a:lnTo>
                  <a:cubicBezTo>
                    <a:pt x="607822" y="471805"/>
                    <a:pt x="471805" y="607822"/>
                    <a:pt x="303911" y="607822"/>
                  </a:cubicBezTo>
                  <a:lnTo>
                    <a:pt x="303911" y="595122"/>
                  </a:lnTo>
                  <a:lnTo>
                    <a:pt x="303911" y="607822"/>
                  </a:lnTo>
                  <a:cubicBezTo>
                    <a:pt x="136017" y="607822"/>
                    <a:pt x="0" y="471678"/>
                    <a:pt x="0" y="303911"/>
                  </a:cubicBezTo>
                  <a:lnTo>
                    <a:pt x="12700" y="303911"/>
                  </a:lnTo>
                  <a:lnTo>
                    <a:pt x="25400" y="303911"/>
                  </a:lnTo>
                  <a:lnTo>
                    <a:pt x="12700" y="303911"/>
                  </a:lnTo>
                  <a:lnTo>
                    <a:pt x="0" y="303911"/>
                  </a:lnTo>
                  <a:moveTo>
                    <a:pt x="25400" y="303911"/>
                  </a:moveTo>
                  <a:cubicBezTo>
                    <a:pt x="25400" y="310896"/>
                    <a:pt x="19685" y="316611"/>
                    <a:pt x="12700" y="316611"/>
                  </a:cubicBezTo>
                  <a:cubicBezTo>
                    <a:pt x="5715" y="316611"/>
                    <a:pt x="0" y="310896"/>
                    <a:pt x="0" y="303911"/>
                  </a:cubicBezTo>
                  <a:cubicBezTo>
                    <a:pt x="0" y="296926"/>
                    <a:pt x="5715" y="291211"/>
                    <a:pt x="12700" y="291211"/>
                  </a:cubicBezTo>
                  <a:cubicBezTo>
                    <a:pt x="19685" y="291211"/>
                    <a:pt x="25400" y="296926"/>
                    <a:pt x="25400" y="303911"/>
                  </a:cubicBezTo>
                  <a:cubicBezTo>
                    <a:pt x="25400" y="457708"/>
                    <a:pt x="150114" y="582422"/>
                    <a:pt x="303911" y="582422"/>
                  </a:cubicBezTo>
                  <a:cubicBezTo>
                    <a:pt x="457708" y="582422"/>
                    <a:pt x="582422" y="457708"/>
                    <a:pt x="582422" y="303911"/>
                  </a:cubicBezTo>
                  <a:cubicBezTo>
                    <a:pt x="582422" y="150114"/>
                    <a:pt x="457708" y="25400"/>
                    <a:pt x="303911" y="25400"/>
                  </a:cubicBezTo>
                  <a:lnTo>
                    <a:pt x="303911" y="12700"/>
                  </a:lnTo>
                  <a:lnTo>
                    <a:pt x="303911" y="25400"/>
                  </a:lnTo>
                  <a:cubicBezTo>
                    <a:pt x="150114" y="25400"/>
                    <a:pt x="25400" y="150114"/>
                    <a:pt x="25400" y="303911"/>
                  </a:cubicBezTo>
                  <a:close/>
                </a:path>
              </a:pathLst>
            </a:custGeom>
            <a:solidFill>
              <a:srgbClr val="FFAB40"/>
            </a:solidFill>
          </p:spPr>
        </p:sp>
      </p:grpSp>
      <p:sp>
        <p:nvSpPr>
          <p:cNvPr name="TextBox 23" id="23"/>
          <p:cNvSpPr txBox="true"/>
          <p:nvPr/>
        </p:nvSpPr>
        <p:spPr>
          <a:xfrm rot="0">
            <a:off x="781702" y="5500802"/>
            <a:ext cx="6867057" cy="870007"/>
          </a:xfrm>
          <a:prstGeom prst="rect">
            <a:avLst/>
          </a:prstGeom>
        </p:spPr>
        <p:txBody>
          <a:bodyPr anchor="t" rtlCol="false" tIns="0" lIns="0" bIns="0" rIns="0">
            <a:spAutoFit/>
          </a:bodyPr>
          <a:lstStyle/>
          <a:p>
            <a:pPr algn="l">
              <a:lnSpc>
                <a:spcPts val="6775"/>
              </a:lnSpc>
            </a:pPr>
            <a:r>
              <a:rPr lang="en-US" b="true" sz="5646">
                <a:solidFill>
                  <a:srgbClr val="F4EDE2"/>
                </a:solidFill>
                <a:latin typeface="Rubik Bold"/>
                <a:ea typeface="Rubik Bold"/>
                <a:cs typeface="Rubik Bold"/>
                <a:sym typeface="Rubik Bold"/>
              </a:rPr>
              <a:t>Adinda Aulia Balqis</a:t>
            </a:r>
          </a:p>
        </p:txBody>
      </p:sp>
      <p:sp>
        <p:nvSpPr>
          <p:cNvPr name="TextBox 24" id="24"/>
          <p:cNvSpPr txBox="true"/>
          <p:nvPr/>
        </p:nvSpPr>
        <p:spPr>
          <a:xfrm rot="0">
            <a:off x="9825923" y="1811998"/>
            <a:ext cx="6826348" cy="619125"/>
          </a:xfrm>
          <a:prstGeom prst="rect">
            <a:avLst/>
          </a:prstGeom>
        </p:spPr>
        <p:txBody>
          <a:bodyPr anchor="t" rtlCol="false" tIns="0" lIns="0" bIns="0" rIns="0">
            <a:spAutoFit/>
          </a:bodyPr>
          <a:lstStyle/>
          <a:p>
            <a:pPr algn="l">
              <a:lnSpc>
                <a:spcPts val="4800"/>
              </a:lnSpc>
            </a:pPr>
            <a:r>
              <a:rPr lang="en-US" b="true" sz="4000">
                <a:solidFill>
                  <a:srgbClr val="000000"/>
                </a:solidFill>
                <a:latin typeface="Rubik Bold"/>
                <a:ea typeface="Rubik Bold"/>
                <a:cs typeface="Rubik Bold"/>
                <a:sym typeface="Rubik Bold"/>
              </a:rPr>
              <a:t>Experience</a:t>
            </a:r>
          </a:p>
        </p:txBody>
      </p:sp>
      <p:sp>
        <p:nvSpPr>
          <p:cNvPr name="TextBox 25" id="25"/>
          <p:cNvSpPr txBox="true"/>
          <p:nvPr/>
        </p:nvSpPr>
        <p:spPr>
          <a:xfrm rot="0">
            <a:off x="10736689" y="2725045"/>
            <a:ext cx="8086140" cy="390525"/>
          </a:xfrm>
          <a:prstGeom prst="rect">
            <a:avLst/>
          </a:prstGeom>
        </p:spPr>
        <p:txBody>
          <a:bodyPr anchor="t" rtlCol="false" tIns="0" lIns="0" bIns="0" rIns="0">
            <a:spAutoFit/>
          </a:bodyPr>
          <a:lstStyle/>
          <a:p>
            <a:pPr algn="l">
              <a:lnSpc>
                <a:spcPts val="3000"/>
              </a:lnSpc>
            </a:pPr>
            <a:r>
              <a:rPr lang="en-US" sz="2500">
                <a:solidFill>
                  <a:srgbClr val="000000"/>
                </a:solidFill>
                <a:latin typeface="Rubik"/>
                <a:ea typeface="Rubik"/>
                <a:cs typeface="Rubik"/>
                <a:sym typeface="Rubik"/>
              </a:rPr>
              <a:t>V</a:t>
            </a:r>
            <a:r>
              <a:rPr lang="en-US" sz="2500">
                <a:solidFill>
                  <a:srgbClr val="000000"/>
                </a:solidFill>
                <a:latin typeface="Rubik"/>
                <a:ea typeface="Rubik"/>
                <a:cs typeface="Rubik"/>
                <a:sym typeface="Rubik"/>
              </a:rPr>
              <a:t>isual Communication Design – F&amp;B Marketing</a:t>
            </a:r>
          </a:p>
        </p:txBody>
      </p:sp>
      <p:sp>
        <p:nvSpPr>
          <p:cNvPr name="TextBox 26" id="26"/>
          <p:cNvSpPr txBox="true"/>
          <p:nvPr/>
        </p:nvSpPr>
        <p:spPr>
          <a:xfrm rot="0">
            <a:off x="781702" y="6361284"/>
            <a:ext cx="6867057" cy="3009900"/>
          </a:xfrm>
          <a:prstGeom prst="rect">
            <a:avLst/>
          </a:prstGeom>
        </p:spPr>
        <p:txBody>
          <a:bodyPr anchor="t" rtlCol="false" tIns="0" lIns="0" bIns="0" rIns="0">
            <a:spAutoFit/>
          </a:bodyPr>
          <a:lstStyle/>
          <a:p>
            <a:pPr algn="just">
              <a:lnSpc>
                <a:spcPts val="2645"/>
              </a:lnSpc>
            </a:pPr>
            <a:r>
              <a:rPr lang="en-US" sz="2204">
                <a:solidFill>
                  <a:srgbClr val="F4EDE2"/>
                </a:solidFill>
                <a:latin typeface="Rubik"/>
                <a:ea typeface="Rubik"/>
                <a:cs typeface="Rubik"/>
                <a:sym typeface="Rubik"/>
              </a:rPr>
              <a:t>Information Systems graduate with experience across Visual Design, UI/UX, and Quality Assurance. Through these roles, I learned to understand the Software Development Life Cycle end to end, from requirements, user flows, and system design to testing and documentation. This shaped my systematic way of thinking and my strong interest in System Analysis, where business needs are translated into structured system solutions.</a:t>
            </a:r>
          </a:p>
        </p:txBody>
      </p:sp>
      <p:sp>
        <p:nvSpPr>
          <p:cNvPr name="TextBox 27" id="27"/>
          <p:cNvSpPr txBox="true"/>
          <p:nvPr/>
        </p:nvSpPr>
        <p:spPr>
          <a:xfrm rot="0">
            <a:off x="10592131" y="3198352"/>
            <a:ext cx="7182797" cy="1809750"/>
          </a:xfrm>
          <a:prstGeom prst="rect">
            <a:avLst/>
          </a:prstGeom>
        </p:spPr>
        <p:txBody>
          <a:bodyPr anchor="t" rtlCol="false" tIns="0" lIns="0" bIns="0" rIns="0">
            <a:spAutoFit/>
          </a:bodyPr>
          <a:lstStyle/>
          <a:p>
            <a:pPr algn="l" marL="369414" indent="-184707" lvl="1">
              <a:lnSpc>
                <a:spcPts val="2053"/>
              </a:lnSpc>
              <a:buFont typeface="Arial"/>
              <a:buChar char="•"/>
            </a:pPr>
            <a:r>
              <a:rPr lang="en-US" sz="1711">
                <a:solidFill>
                  <a:srgbClr val="000000"/>
                </a:solidFill>
                <a:latin typeface="Rubik"/>
                <a:ea typeface="Rubik"/>
                <a:cs typeface="Rubik"/>
                <a:sym typeface="Rubik"/>
              </a:rPr>
              <a:t>Plan </a:t>
            </a:r>
            <a:r>
              <a:rPr lang="en-US" sz="1711">
                <a:solidFill>
                  <a:srgbClr val="000000"/>
                </a:solidFill>
                <a:latin typeface="Rubik"/>
                <a:ea typeface="Rubik"/>
                <a:cs typeface="Rubik"/>
                <a:sym typeface="Rubik"/>
              </a:rPr>
              <a:t>structured content flows and communication strategies based on audience behavior.</a:t>
            </a:r>
          </a:p>
          <a:p>
            <a:pPr algn="l" marL="369414" indent="-184707" lvl="1">
              <a:lnSpc>
                <a:spcPts val="2053"/>
              </a:lnSpc>
              <a:buFont typeface="Arial"/>
              <a:buChar char="•"/>
            </a:pPr>
            <a:r>
              <a:rPr lang="en-US" sz="1711">
                <a:solidFill>
                  <a:srgbClr val="000000"/>
                </a:solidFill>
                <a:latin typeface="Rubik"/>
                <a:ea typeface="Rubik"/>
                <a:cs typeface="Rubik"/>
                <a:sym typeface="Rubik"/>
              </a:rPr>
              <a:t>Turn campaign ideas into organized workflows, templates, and visual systems.</a:t>
            </a:r>
          </a:p>
          <a:p>
            <a:pPr algn="l" marL="369414" indent="-184707" lvl="1">
              <a:lnSpc>
                <a:spcPts val="2053"/>
              </a:lnSpc>
              <a:buFont typeface="Arial"/>
              <a:buChar char="•"/>
            </a:pPr>
            <a:r>
              <a:rPr lang="en-US" sz="1711">
                <a:solidFill>
                  <a:srgbClr val="000000"/>
                </a:solidFill>
                <a:latin typeface="Rubik"/>
                <a:ea typeface="Rubik"/>
                <a:cs typeface="Rubik"/>
                <a:sym typeface="Rubik"/>
              </a:rPr>
              <a:t>Collaborate with marketing teams to translate business goals into clear visual execution.</a:t>
            </a:r>
          </a:p>
          <a:p>
            <a:pPr algn="l">
              <a:lnSpc>
                <a:spcPts val="2053"/>
              </a:lnSpc>
            </a:pPr>
          </a:p>
        </p:txBody>
      </p:sp>
      <p:sp>
        <p:nvSpPr>
          <p:cNvPr name="TextBox 28" id="28"/>
          <p:cNvSpPr txBox="true"/>
          <p:nvPr/>
        </p:nvSpPr>
        <p:spPr>
          <a:xfrm rot="0">
            <a:off x="10736689" y="4851044"/>
            <a:ext cx="8086140" cy="390525"/>
          </a:xfrm>
          <a:prstGeom prst="rect">
            <a:avLst/>
          </a:prstGeom>
        </p:spPr>
        <p:txBody>
          <a:bodyPr anchor="t" rtlCol="false" tIns="0" lIns="0" bIns="0" rIns="0">
            <a:spAutoFit/>
          </a:bodyPr>
          <a:lstStyle/>
          <a:p>
            <a:pPr algn="l">
              <a:lnSpc>
                <a:spcPts val="3000"/>
              </a:lnSpc>
            </a:pPr>
            <a:r>
              <a:rPr lang="en-US" sz="2500">
                <a:solidFill>
                  <a:srgbClr val="000000"/>
                </a:solidFill>
                <a:latin typeface="Rubik"/>
                <a:ea typeface="Rubik"/>
                <a:cs typeface="Rubik"/>
                <a:sym typeface="Rubik"/>
              </a:rPr>
              <a:t>Q</a:t>
            </a:r>
            <a:r>
              <a:rPr lang="en-US" sz="2500">
                <a:solidFill>
                  <a:srgbClr val="000000"/>
                </a:solidFill>
                <a:latin typeface="Rubik"/>
                <a:ea typeface="Rubik"/>
                <a:cs typeface="Rubik"/>
                <a:sym typeface="Rubik"/>
              </a:rPr>
              <a:t>uality Assurance Bootcamp – Sanbercode</a:t>
            </a:r>
          </a:p>
        </p:txBody>
      </p:sp>
      <p:sp>
        <p:nvSpPr>
          <p:cNvPr name="TextBox 29" id="29"/>
          <p:cNvSpPr txBox="true"/>
          <p:nvPr/>
        </p:nvSpPr>
        <p:spPr>
          <a:xfrm rot="0">
            <a:off x="10592131" y="5324351"/>
            <a:ext cx="6842877" cy="2324100"/>
          </a:xfrm>
          <a:prstGeom prst="rect">
            <a:avLst/>
          </a:prstGeom>
        </p:spPr>
        <p:txBody>
          <a:bodyPr anchor="t" rtlCol="false" tIns="0" lIns="0" bIns="0" rIns="0">
            <a:spAutoFit/>
          </a:bodyPr>
          <a:lstStyle/>
          <a:p>
            <a:pPr algn="l" marL="369414" indent="-184707" lvl="1">
              <a:lnSpc>
                <a:spcPts val="2053"/>
              </a:lnSpc>
              <a:buFont typeface="Arial"/>
              <a:buChar char="•"/>
            </a:pPr>
            <a:r>
              <a:rPr lang="en-US" sz="1711">
                <a:solidFill>
                  <a:srgbClr val="000000"/>
                </a:solidFill>
                <a:latin typeface="Rubik"/>
                <a:ea typeface="Rubik"/>
                <a:cs typeface="Rubik"/>
                <a:sym typeface="Rubik"/>
              </a:rPr>
              <a:t>Applied Software Testing Life Cycle (STLC) through hands-on projects, including test planning, test case design, execution, and bug reporting.</a:t>
            </a:r>
          </a:p>
          <a:p>
            <a:pPr algn="l" marL="369414" indent="-184707" lvl="1">
              <a:lnSpc>
                <a:spcPts val="2053"/>
              </a:lnSpc>
              <a:buFont typeface="Arial"/>
              <a:buChar char="•"/>
            </a:pPr>
            <a:r>
              <a:rPr lang="en-US" sz="1711">
                <a:solidFill>
                  <a:srgbClr val="000000"/>
                </a:solidFill>
                <a:latin typeface="Rubik"/>
                <a:ea typeface="Rubik"/>
                <a:cs typeface="Rubik"/>
                <a:sym typeface="Rubik"/>
              </a:rPr>
              <a:t>Performed manual testing (functional, regression, smoke) and automation testing using Cypress (POM), Katalon, Postman for API testing, and SQL for data validation.</a:t>
            </a:r>
          </a:p>
          <a:p>
            <a:pPr algn="l" marL="369414" indent="-184707" lvl="1">
              <a:lnSpc>
                <a:spcPts val="2053"/>
              </a:lnSpc>
              <a:buFont typeface="Arial"/>
              <a:buChar char="•"/>
            </a:pPr>
            <a:r>
              <a:rPr lang="en-US" sz="1711">
                <a:solidFill>
                  <a:srgbClr val="000000"/>
                </a:solidFill>
                <a:latin typeface="Rubik"/>
                <a:ea typeface="Rubik"/>
                <a:cs typeface="Rubik"/>
                <a:sym typeface="Rubik"/>
              </a:rPr>
              <a:t>De</a:t>
            </a:r>
            <a:r>
              <a:rPr lang="en-US" sz="1711">
                <a:solidFill>
                  <a:srgbClr val="000000"/>
                </a:solidFill>
                <a:latin typeface="Rubik"/>
                <a:ea typeface="Rubik"/>
                <a:cs typeface="Rubik"/>
                <a:sym typeface="Rubik"/>
              </a:rPr>
              <a:t>livered a final project recognized as Best Project of the batch.</a:t>
            </a:r>
          </a:p>
          <a:p>
            <a:pPr algn="l">
              <a:lnSpc>
                <a:spcPts val="2053"/>
              </a:lnSpc>
            </a:pPr>
          </a:p>
        </p:txBody>
      </p:sp>
      <p:sp>
        <p:nvSpPr>
          <p:cNvPr name="TextBox 30" id="30"/>
          <p:cNvSpPr txBox="true"/>
          <p:nvPr/>
        </p:nvSpPr>
        <p:spPr>
          <a:xfrm rot="0">
            <a:off x="10755739" y="7462850"/>
            <a:ext cx="8086140" cy="390525"/>
          </a:xfrm>
          <a:prstGeom prst="rect">
            <a:avLst/>
          </a:prstGeom>
        </p:spPr>
        <p:txBody>
          <a:bodyPr anchor="t" rtlCol="false" tIns="0" lIns="0" bIns="0" rIns="0">
            <a:spAutoFit/>
          </a:bodyPr>
          <a:lstStyle/>
          <a:p>
            <a:pPr algn="l">
              <a:lnSpc>
                <a:spcPts val="3000"/>
              </a:lnSpc>
            </a:pPr>
            <a:r>
              <a:rPr lang="en-US" sz="2500">
                <a:solidFill>
                  <a:srgbClr val="000000"/>
                </a:solidFill>
                <a:latin typeface="Rubik"/>
                <a:ea typeface="Rubik"/>
                <a:cs typeface="Rubik"/>
                <a:sym typeface="Rubik"/>
              </a:rPr>
              <a:t>UI/UX V</a:t>
            </a:r>
            <a:r>
              <a:rPr lang="en-US" sz="2500">
                <a:solidFill>
                  <a:srgbClr val="000000"/>
                </a:solidFill>
                <a:latin typeface="Rubik"/>
                <a:ea typeface="Rubik"/>
                <a:cs typeface="Rubik"/>
                <a:sym typeface="Rubik"/>
              </a:rPr>
              <a:t>irtual Internship Project – Nuri</a:t>
            </a:r>
          </a:p>
        </p:txBody>
      </p:sp>
      <p:sp>
        <p:nvSpPr>
          <p:cNvPr name="TextBox 31" id="31"/>
          <p:cNvSpPr txBox="true"/>
          <p:nvPr/>
        </p:nvSpPr>
        <p:spPr>
          <a:xfrm rot="0">
            <a:off x="10611181" y="7936156"/>
            <a:ext cx="6867531" cy="1809750"/>
          </a:xfrm>
          <a:prstGeom prst="rect">
            <a:avLst/>
          </a:prstGeom>
        </p:spPr>
        <p:txBody>
          <a:bodyPr anchor="t" rtlCol="false" tIns="0" lIns="0" bIns="0" rIns="0">
            <a:spAutoFit/>
          </a:bodyPr>
          <a:lstStyle/>
          <a:p>
            <a:pPr algn="l" marL="369414" indent="-184707" lvl="1">
              <a:lnSpc>
                <a:spcPts val="2053"/>
              </a:lnSpc>
              <a:buFont typeface="Arial"/>
              <a:buChar char="•"/>
            </a:pPr>
            <a:r>
              <a:rPr lang="en-US" sz="1711">
                <a:solidFill>
                  <a:srgbClr val="000000"/>
                </a:solidFill>
                <a:latin typeface="Rubik"/>
                <a:ea typeface="Rubik"/>
                <a:cs typeface="Rubik"/>
                <a:sym typeface="Rubik"/>
              </a:rPr>
              <a:t>Cond</a:t>
            </a:r>
            <a:r>
              <a:rPr lang="en-US" sz="1711">
                <a:solidFill>
                  <a:srgbClr val="000000"/>
                </a:solidFill>
                <a:latin typeface="Rubik"/>
                <a:ea typeface="Rubik"/>
                <a:cs typeface="Rubik"/>
                <a:sym typeface="Rubik"/>
              </a:rPr>
              <a:t>ucted user research to identify pain points and define problem statements.</a:t>
            </a:r>
          </a:p>
          <a:p>
            <a:pPr algn="l" marL="369414" indent="-184707" lvl="1">
              <a:lnSpc>
                <a:spcPts val="2053"/>
              </a:lnSpc>
              <a:buFont typeface="Arial"/>
              <a:buChar char="•"/>
            </a:pPr>
            <a:r>
              <a:rPr lang="en-US" sz="1711">
                <a:solidFill>
                  <a:srgbClr val="000000"/>
                </a:solidFill>
                <a:latin typeface="Rubik"/>
                <a:ea typeface="Rubik"/>
                <a:cs typeface="Rubik"/>
                <a:sym typeface="Rubik"/>
              </a:rPr>
              <a:t>Developed user flows, wireframes, and prototypes from user and business requirements.</a:t>
            </a:r>
          </a:p>
          <a:p>
            <a:pPr algn="l" marL="369414" indent="-184707" lvl="1">
              <a:lnSpc>
                <a:spcPts val="2053"/>
              </a:lnSpc>
              <a:buFont typeface="Arial"/>
              <a:buChar char="•"/>
            </a:pPr>
            <a:r>
              <a:rPr lang="en-US" sz="1711">
                <a:solidFill>
                  <a:srgbClr val="000000"/>
                </a:solidFill>
                <a:latin typeface="Rubik"/>
                <a:ea typeface="Rubik"/>
                <a:cs typeface="Rubik"/>
                <a:sym typeface="Rubik"/>
              </a:rPr>
              <a:t>Translated user needs into structured digital solutions and documentation.</a:t>
            </a:r>
          </a:p>
          <a:p>
            <a:pPr algn="l">
              <a:lnSpc>
                <a:spcPts val="2053"/>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228" t="-35818" r="-11439" b="0"/>
            </a:stretch>
          </a:blipFill>
        </p:spPr>
      </p:sp>
      <p:grpSp>
        <p:nvGrpSpPr>
          <p:cNvPr name="Group 3" id="3"/>
          <p:cNvGrpSpPr/>
          <p:nvPr/>
        </p:nvGrpSpPr>
        <p:grpSpPr>
          <a:xfrm rot="5400000">
            <a:off x="4479117" y="1219103"/>
            <a:ext cx="9329765" cy="8948959"/>
            <a:chOff x="0" y="0"/>
            <a:chExt cx="622300" cy="596900"/>
          </a:xfrm>
        </p:grpSpPr>
        <p:sp>
          <p:nvSpPr>
            <p:cNvPr name="Freeform 4" id="4"/>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true">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sp>
        <p:sp>
          <p:nvSpPr>
            <p:cNvPr name="TextBox 5" id="5"/>
            <p:cNvSpPr txBox="true"/>
            <p:nvPr/>
          </p:nvSpPr>
          <p:spPr>
            <a:xfrm>
              <a:off x="0" y="174625"/>
              <a:ext cx="622300" cy="295275"/>
            </a:xfrm>
            <a:prstGeom prst="rect">
              <a:avLst/>
            </a:prstGeom>
          </p:spPr>
          <p:txBody>
            <a:bodyPr anchor="ctr" rtlCol="false" tIns="50800" lIns="50800" bIns="50800" rIns="50800"/>
            <a:lstStyle/>
            <a:p>
              <a:pPr algn="ctr">
                <a:lnSpc>
                  <a:spcPts val="1800"/>
                </a:lnSpc>
              </a:pPr>
            </a:p>
          </p:txBody>
        </p:sp>
      </p:grpSp>
      <p:grpSp>
        <p:nvGrpSpPr>
          <p:cNvPr name="Group 6" id="6"/>
          <p:cNvGrpSpPr/>
          <p:nvPr/>
        </p:nvGrpSpPr>
        <p:grpSpPr>
          <a:xfrm rot="5400000">
            <a:off x="12945683" y="6409665"/>
            <a:ext cx="9329765" cy="8948959"/>
            <a:chOff x="0" y="0"/>
            <a:chExt cx="622300" cy="596900"/>
          </a:xfrm>
        </p:grpSpPr>
        <p:sp>
          <p:nvSpPr>
            <p:cNvPr name="Freeform 7" id="7"/>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true">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sp>
        <p:sp>
          <p:nvSpPr>
            <p:cNvPr name="TextBox 8" id="8"/>
            <p:cNvSpPr txBox="true"/>
            <p:nvPr/>
          </p:nvSpPr>
          <p:spPr>
            <a:xfrm>
              <a:off x="0" y="174625"/>
              <a:ext cx="622300" cy="295275"/>
            </a:xfrm>
            <a:prstGeom prst="rect">
              <a:avLst/>
            </a:prstGeom>
          </p:spPr>
          <p:txBody>
            <a:bodyPr anchor="ctr" rtlCol="false" tIns="50800" lIns="50800" bIns="50800" rIns="50800"/>
            <a:lstStyle/>
            <a:p>
              <a:pPr algn="ctr">
                <a:lnSpc>
                  <a:spcPts val="1800"/>
                </a:lnSpc>
              </a:pPr>
            </a:p>
          </p:txBody>
        </p:sp>
      </p:grpSp>
      <p:grpSp>
        <p:nvGrpSpPr>
          <p:cNvPr name="Group 9" id="9"/>
          <p:cNvGrpSpPr/>
          <p:nvPr/>
        </p:nvGrpSpPr>
        <p:grpSpPr>
          <a:xfrm rot="5400000">
            <a:off x="-3987448" y="6409665"/>
            <a:ext cx="9329765" cy="8948959"/>
            <a:chOff x="0" y="0"/>
            <a:chExt cx="622300" cy="596900"/>
          </a:xfrm>
        </p:grpSpPr>
        <p:sp>
          <p:nvSpPr>
            <p:cNvPr name="Freeform 10" id="10"/>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true">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sp>
        <p:sp>
          <p:nvSpPr>
            <p:cNvPr name="TextBox 11" id="11"/>
            <p:cNvSpPr txBox="true"/>
            <p:nvPr/>
          </p:nvSpPr>
          <p:spPr>
            <a:xfrm>
              <a:off x="0" y="174625"/>
              <a:ext cx="622300" cy="295275"/>
            </a:xfrm>
            <a:prstGeom prst="rect">
              <a:avLst/>
            </a:prstGeom>
          </p:spPr>
          <p:txBody>
            <a:bodyPr anchor="ctr" rtlCol="false" tIns="50800" lIns="50800" bIns="50800" rIns="50800"/>
            <a:lstStyle/>
            <a:p>
              <a:pPr algn="ctr">
                <a:lnSpc>
                  <a:spcPts val="1800"/>
                </a:lnSpc>
              </a:pPr>
            </a:p>
          </p:txBody>
        </p:sp>
      </p:grpSp>
      <p:grpSp>
        <p:nvGrpSpPr>
          <p:cNvPr name="Group 12" id="12"/>
          <p:cNvGrpSpPr/>
          <p:nvPr/>
        </p:nvGrpSpPr>
        <p:grpSpPr>
          <a:xfrm rot="0">
            <a:off x="1626812" y="4028436"/>
            <a:ext cx="15034376" cy="4777622"/>
            <a:chOff x="0" y="0"/>
            <a:chExt cx="1274781" cy="405100"/>
          </a:xfrm>
        </p:grpSpPr>
        <p:sp>
          <p:nvSpPr>
            <p:cNvPr name="Freeform 13" id="13"/>
            <p:cNvSpPr/>
            <p:nvPr/>
          </p:nvSpPr>
          <p:spPr>
            <a:xfrm flipH="false" flipV="false" rot="0">
              <a:off x="0" y="0"/>
              <a:ext cx="1274781" cy="405100"/>
            </a:xfrm>
            <a:custGeom>
              <a:avLst/>
              <a:gdLst/>
              <a:ahLst/>
              <a:cxnLst/>
              <a:rect r="r" b="b" t="t" l="l"/>
              <a:pathLst>
                <a:path h="405100" w="1274781">
                  <a:moveTo>
                    <a:pt x="15448" y="0"/>
                  </a:moveTo>
                  <a:lnTo>
                    <a:pt x="1259333" y="0"/>
                  </a:lnTo>
                  <a:cubicBezTo>
                    <a:pt x="1267865" y="0"/>
                    <a:pt x="1274781" y="6917"/>
                    <a:pt x="1274781" y="15448"/>
                  </a:cubicBezTo>
                  <a:lnTo>
                    <a:pt x="1274781" y="389651"/>
                  </a:lnTo>
                  <a:cubicBezTo>
                    <a:pt x="1274781" y="393749"/>
                    <a:pt x="1273154" y="397678"/>
                    <a:pt x="1270257" y="400575"/>
                  </a:cubicBezTo>
                  <a:cubicBezTo>
                    <a:pt x="1267360" y="403472"/>
                    <a:pt x="1263430" y="405100"/>
                    <a:pt x="1259333" y="405100"/>
                  </a:cubicBezTo>
                  <a:lnTo>
                    <a:pt x="15448" y="405100"/>
                  </a:lnTo>
                  <a:cubicBezTo>
                    <a:pt x="6917" y="405100"/>
                    <a:pt x="0" y="398183"/>
                    <a:pt x="0" y="389651"/>
                  </a:cubicBezTo>
                  <a:lnTo>
                    <a:pt x="0" y="15448"/>
                  </a:lnTo>
                  <a:cubicBezTo>
                    <a:pt x="0" y="11351"/>
                    <a:pt x="1628" y="7422"/>
                    <a:pt x="4525" y="4525"/>
                  </a:cubicBezTo>
                  <a:cubicBezTo>
                    <a:pt x="7422" y="1628"/>
                    <a:pt x="11351" y="0"/>
                    <a:pt x="15448" y="0"/>
                  </a:cubicBezTo>
                  <a:close/>
                </a:path>
              </a:pathLst>
            </a:custGeom>
            <a:gradFill rotWithShape="true">
              <a:gsLst>
                <a:gs pos="0">
                  <a:srgbClr val="FFFFFF">
                    <a:alpha val="10000"/>
                  </a:srgbClr>
                </a:gs>
                <a:gs pos="50000">
                  <a:srgbClr val="FFFFFF">
                    <a:alpha val="0"/>
                  </a:srgbClr>
                </a:gs>
                <a:gs pos="100000">
                  <a:srgbClr val="FFFFFF">
                    <a:alpha val="10500"/>
                  </a:srgbClr>
                </a:gs>
              </a:gsLst>
              <a:lin ang="2700000"/>
            </a:gradFill>
            <a:ln w="19050" cap="rnd">
              <a:gradFill>
                <a:gsLst>
                  <a:gs pos="0">
                    <a:srgbClr val="FFFFFF">
                      <a:alpha val="50000"/>
                    </a:srgbClr>
                  </a:gs>
                  <a:gs pos="50000">
                    <a:srgbClr val="FFFFFF">
                      <a:alpha val="0"/>
                    </a:srgbClr>
                  </a:gs>
                  <a:gs pos="100000">
                    <a:srgbClr val="FFFFFF">
                      <a:alpha val="50000"/>
                    </a:srgbClr>
                  </a:gs>
                </a:gsLst>
                <a:lin ang="0"/>
              </a:gradFill>
              <a:prstDash val="solid"/>
              <a:round/>
            </a:ln>
          </p:spPr>
        </p:sp>
        <p:sp>
          <p:nvSpPr>
            <p:cNvPr name="TextBox 14" id="14"/>
            <p:cNvSpPr txBox="true"/>
            <p:nvPr/>
          </p:nvSpPr>
          <p:spPr>
            <a:xfrm>
              <a:off x="0" y="47625"/>
              <a:ext cx="1274781" cy="357475"/>
            </a:xfrm>
            <a:prstGeom prst="rect">
              <a:avLst/>
            </a:prstGeom>
          </p:spPr>
          <p:txBody>
            <a:bodyPr anchor="ctr" rtlCol="false" tIns="50800" lIns="50800" bIns="50800" rIns="50800"/>
            <a:lstStyle/>
            <a:p>
              <a:pPr algn="ctr">
                <a:lnSpc>
                  <a:spcPts val="1800"/>
                </a:lnSpc>
              </a:pPr>
            </a:p>
          </p:txBody>
        </p:sp>
      </p:grpSp>
      <p:sp>
        <p:nvSpPr>
          <p:cNvPr name="TextBox 15" id="15"/>
          <p:cNvSpPr txBox="true"/>
          <p:nvPr/>
        </p:nvSpPr>
        <p:spPr>
          <a:xfrm rot="0">
            <a:off x="2215842" y="4640835"/>
            <a:ext cx="13856316" cy="4048125"/>
          </a:xfrm>
          <a:prstGeom prst="rect">
            <a:avLst/>
          </a:prstGeom>
        </p:spPr>
        <p:txBody>
          <a:bodyPr anchor="t" rtlCol="false" tIns="0" lIns="0" bIns="0" rIns="0">
            <a:spAutoFit/>
          </a:bodyPr>
          <a:lstStyle/>
          <a:p>
            <a:pPr algn="ctr">
              <a:lnSpc>
                <a:spcPts val="4014"/>
              </a:lnSpc>
            </a:pPr>
            <a:r>
              <a:rPr lang="en-US" sz="3345" i="true">
                <a:solidFill>
                  <a:srgbClr val="FFFFFF"/>
                </a:solidFill>
                <a:latin typeface="Aileron Italics"/>
                <a:ea typeface="Aileron Italics"/>
                <a:cs typeface="Aileron Italics"/>
                <a:sym typeface="Aileron Italics"/>
              </a:rPr>
              <a:t>As a System Analyst at Klinikgo, I am assigned to design a comprehensive system diagram that represents the patient registration process through the KlinikGo web platform.</a:t>
            </a:r>
          </a:p>
          <a:p>
            <a:pPr algn="ctr" marL="0" indent="0" lvl="0">
              <a:lnSpc>
                <a:spcPts val="4014"/>
              </a:lnSpc>
            </a:pPr>
            <a:r>
              <a:rPr lang="en-US" sz="3345" i="true">
                <a:solidFill>
                  <a:srgbClr val="FFFFFF"/>
                </a:solidFill>
                <a:latin typeface="Aileron Italics"/>
                <a:ea typeface="Aileron Italics"/>
                <a:cs typeface="Aileron Italics"/>
                <a:sym typeface="Aileron Italics"/>
              </a:rPr>
              <a:t>This platform enables patients to register online, select their preferred doctor, and schedule an appropriate visit time. In developing this diagram, I am required to apply standard and widely recognized system diagram symbols to ensure clarity, consistency, and professional representation.</a:t>
            </a:r>
          </a:p>
          <a:p>
            <a:pPr algn="ctr" marL="0" indent="0" lvl="0">
              <a:lnSpc>
                <a:spcPts val="4014"/>
              </a:lnSpc>
            </a:pPr>
          </a:p>
        </p:txBody>
      </p:sp>
      <p:sp>
        <p:nvSpPr>
          <p:cNvPr name="TextBox 16" id="16"/>
          <p:cNvSpPr txBox="true"/>
          <p:nvPr/>
        </p:nvSpPr>
        <p:spPr>
          <a:xfrm rot="0">
            <a:off x="5315123" y="1682779"/>
            <a:ext cx="7657754" cy="1831307"/>
          </a:xfrm>
          <a:prstGeom prst="rect">
            <a:avLst/>
          </a:prstGeom>
        </p:spPr>
        <p:txBody>
          <a:bodyPr anchor="t" rtlCol="false" tIns="0" lIns="0" bIns="0" rIns="0">
            <a:spAutoFit/>
          </a:bodyPr>
          <a:lstStyle/>
          <a:p>
            <a:pPr algn="ctr" marL="0" indent="0" lvl="0">
              <a:lnSpc>
                <a:spcPts val="10907"/>
              </a:lnSpc>
            </a:pPr>
            <a:r>
              <a:rPr lang="en-US" b="true" sz="11856" spc="-770">
                <a:solidFill>
                  <a:srgbClr val="FFFFFF"/>
                </a:solidFill>
                <a:latin typeface="Agrandir Bold"/>
                <a:ea typeface="Agrandir Bold"/>
                <a:cs typeface="Agrandir Bold"/>
                <a:sym typeface="Agrandir Bold"/>
              </a:rPr>
              <a:t>Case Study</a:t>
            </a:r>
          </a:p>
        </p:txBody>
      </p:sp>
      <p:grpSp>
        <p:nvGrpSpPr>
          <p:cNvPr name="Group 17" id="17"/>
          <p:cNvGrpSpPr/>
          <p:nvPr/>
        </p:nvGrpSpPr>
        <p:grpSpPr>
          <a:xfrm rot="0">
            <a:off x="14672259" y="487399"/>
            <a:ext cx="2799798" cy="1082602"/>
            <a:chOff x="0" y="0"/>
            <a:chExt cx="3733063" cy="1443469"/>
          </a:xfrm>
        </p:grpSpPr>
        <p:sp>
          <p:nvSpPr>
            <p:cNvPr name="Freeform 18" id="18"/>
            <p:cNvSpPr/>
            <p:nvPr/>
          </p:nvSpPr>
          <p:spPr>
            <a:xfrm flipH="false" flipV="false" rot="0">
              <a:off x="0" y="0"/>
              <a:ext cx="3733038" cy="1443482"/>
            </a:xfrm>
            <a:custGeom>
              <a:avLst/>
              <a:gdLst/>
              <a:ahLst/>
              <a:cxnLst/>
              <a:rect r="r" b="b" t="t" l="l"/>
              <a:pathLst>
                <a:path h="1443482" w="3733038">
                  <a:moveTo>
                    <a:pt x="0" y="0"/>
                  </a:moveTo>
                  <a:lnTo>
                    <a:pt x="3733038" y="0"/>
                  </a:lnTo>
                  <a:lnTo>
                    <a:pt x="3733038" y="1443482"/>
                  </a:lnTo>
                  <a:lnTo>
                    <a:pt x="0" y="1443482"/>
                  </a:lnTo>
                  <a:lnTo>
                    <a:pt x="0" y="0"/>
                  </a:lnTo>
                  <a:close/>
                </a:path>
              </a:pathLst>
            </a:custGeom>
            <a:blipFill>
              <a:blip r:embed="rId4"/>
              <a:stretch>
                <a:fillRect l="0" t="0" r="0" b="-193"/>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228" t="-35818" r="-11439" b="0"/>
            </a:stretch>
          </a:blipFill>
        </p:spPr>
      </p:sp>
      <p:sp>
        <p:nvSpPr>
          <p:cNvPr name="TextBox 3" id="3"/>
          <p:cNvSpPr txBox="true"/>
          <p:nvPr/>
        </p:nvSpPr>
        <p:spPr>
          <a:xfrm rot="0">
            <a:off x="4470638" y="1009650"/>
            <a:ext cx="9346724" cy="1011793"/>
          </a:xfrm>
          <a:prstGeom prst="rect">
            <a:avLst/>
          </a:prstGeom>
        </p:spPr>
        <p:txBody>
          <a:bodyPr anchor="t" rtlCol="false" tIns="0" lIns="0" bIns="0" rIns="0">
            <a:spAutoFit/>
          </a:bodyPr>
          <a:lstStyle/>
          <a:p>
            <a:pPr algn="ctr" marL="0" indent="0" lvl="0">
              <a:lnSpc>
                <a:spcPts val="6006"/>
              </a:lnSpc>
            </a:pPr>
            <a:r>
              <a:rPr lang="en-US" b="true" sz="6529" spc="-424">
                <a:solidFill>
                  <a:srgbClr val="FFFFFF"/>
                </a:solidFill>
                <a:latin typeface="Agrandir Bold"/>
                <a:ea typeface="Agrandir Bold"/>
                <a:cs typeface="Agrandir Bold"/>
                <a:sym typeface="Agrandir Bold"/>
              </a:rPr>
              <a:t>Business Needs &amp; System</a:t>
            </a:r>
          </a:p>
        </p:txBody>
      </p:sp>
      <p:grpSp>
        <p:nvGrpSpPr>
          <p:cNvPr name="Group 4" id="4"/>
          <p:cNvGrpSpPr/>
          <p:nvPr/>
        </p:nvGrpSpPr>
        <p:grpSpPr>
          <a:xfrm rot="0">
            <a:off x="14672259" y="487399"/>
            <a:ext cx="2799798" cy="1082602"/>
            <a:chOff x="0" y="0"/>
            <a:chExt cx="3733063" cy="1443469"/>
          </a:xfrm>
        </p:grpSpPr>
        <p:sp>
          <p:nvSpPr>
            <p:cNvPr name="Freeform 5" id="5"/>
            <p:cNvSpPr/>
            <p:nvPr/>
          </p:nvSpPr>
          <p:spPr>
            <a:xfrm flipH="false" flipV="false" rot="0">
              <a:off x="0" y="0"/>
              <a:ext cx="3733038" cy="1443482"/>
            </a:xfrm>
            <a:custGeom>
              <a:avLst/>
              <a:gdLst/>
              <a:ahLst/>
              <a:cxnLst/>
              <a:rect r="r" b="b" t="t" l="l"/>
              <a:pathLst>
                <a:path h="1443482" w="3733038">
                  <a:moveTo>
                    <a:pt x="0" y="0"/>
                  </a:moveTo>
                  <a:lnTo>
                    <a:pt x="3733038" y="0"/>
                  </a:lnTo>
                  <a:lnTo>
                    <a:pt x="3733038" y="1443482"/>
                  </a:lnTo>
                  <a:lnTo>
                    <a:pt x="0" y="1443482"/>
                  </a:lnTo>
                  <a:lnTo>
                    <a:pt x="0" y="0"/>
                  </a:lnTo>
                  <a:close/>
                </a:path>
              </a:pathLst>
            </a:custGeom>
            <a:blipFill>
              <a:blip r:embed="rId4"/>
              <a:stretch>
                <a:fillRect l="0" t="0" r="0" b="-193"/>
              </a:stretch>
            </a:blipFill>
          </p:spPr>
        </p:sp>
      </p:grpSp>
      <p:sp>
        <p:nvSpPr>
          <p:cNvPr name="TextBox 6" id="6"/>
          <p:cNvSpPr txBox="true"/>
          <p:nvPr/>
        </p:nvSpPr>
        <p:spPr>
          <a:xfrm rot="0">
            <a:off x="1100716" y="2310096"/>
            <a:ext cx="16086567" cy="7910229"/>
          </a:xfrm>
          <a:prstGeom prst="rect">
            <a:avLst/>
          </a:prstGeom>
        </p:spPr>
        <p:txBody>
          <a:bodyPr anchor="t" rtlCol="false" tIns="0" lIns="0" bIns="0" rIns="0">
            <a:spAutoFit/>
          </a:bodyPr>
          <a:lstStyle/>
          <a:p>
            <a:pPr algn="just" marL="518597" indent="-259299" lvl="1">
              <a:lnSpc>
                <a:spcPts val="3747"/>
              </a:lnSpc>
              <a:buAutoNum type="arabicPeriod" startAt="1"/>
            </a:pPr>
            <a:r>
              <a:rPr lang="en-US" sz="2402">
                <a:solidFill>
                  <a:srgbClr val="FFFFFF"/>
                </a:solidFill>
                <a:latin typeface="Aileron"/>
                <a:ea typeface="Aileron"/>
                <a:cs typeface="Aileron"/>
                <a:sym typeface="Aileron"/>
              </a:rPr>
              <a:t>Patients must fill out the registration form by entering:</a:t>
            </a:r>
          </a:p>
          <a:p>
            <a:pPr algn="l" marL="1037194" indent="-345731" lvl="2">
              <a:lnSpc>
                <a:spcPts val="3747"/>
              </a:lnSpc>
              <a:buFont typeface="Arial"/>
              <a:buChar char="⚬"/>
            </a:pPr>
            <a:r>
              <a:rPr lang="en-US" sz="2402">
                <a:solidFill>
                  <a:srgbClr val="FFFFFF"/>
                </a:solidFill>
                <a:latin typeface="Aileron"/>
                <a:ea typeface="Aileron"/>
                <a:cs typeface="Aileron"/>
                <a:sym typeface="Aileron"/>
              </a:rPr>
              <a:t>Medical Record Number, WhatsApp number, preferred appointment day and time, and selected doctor (for          existing patients). </a:t>
            </a:r>
          </a:p>
          <a:p>
            <a:pPr algn="l" marL="1037194" indent="-345731" lvl="2">
              <a:lnSpc>
                <a:spcPts val="3747"/>
              </a:lnSpc>
              <a:buFont typeface="Arial"/>
              <a:buChar char="⚬"/>
            </a:pPr>
            <a:r>
              <a:rPr lang="en-US" sz="2402">
                <a:solidFill>
                  <a:srgbClr val="FFFFFF"/>
                </a:solidFill>
                <a:latin typeface="Aileron"/>
                <a:ea typeface="Aileron"/>
                <a:cs typeface="Aileron"/>
                <a:sym typeface="Aileron"/>
              </a:rPr>
              <a:t>Complete patient data, WhatsApp number, preferred appointment day and time, and selected doctor (for new  patients).</a:t>
            </a:r>
          </a:p>
          <a:p>
            <a:pPr algn="just" marL="518597" indent="-259299" lvl="1">
              <a:lnSpc>
                <a:spcPts val="3747"/>
              </a:lnSpc>
              <a:buAutoNum type="arabicPeriod" startAt="1"/>
            </a:pPr>
            <a:r>
              <a:rPr lang="en-US" sz="2402">
                <a:solidFill>
                  <a:srgbClr val="FFFFFF"/>
                </a:solidFill>
                <a:latin typeface="Aileron"/>
                <a:ea typeface="Aileron"/>
                <a:cs typeface="Aileron"/>
                <a:sym typeface="Aileron"/>
              </a:rPr>
              <a:t>Doctor schedules may change at any time. Providing a WhatsApp number is mandatory to receive sudden schedule change notifications.</a:t>
            </a:r>
          </a:p>
          <a:p>
            <a:pPr algn="just" marL="518597" indent="-259299" lvl="1">
              <a:lnSpc>
                <a:spcPts val="3747"/>
              </a:lnSpc>
              <a:buAutoNum type="arabicPeriod" startAt="1"/>
            </a:pPr>
            <a:r>
              <a:rPr lang="en-US" sz="2402">
                <a:solidFill>
                  <a:srgbClr val="FFFFFF"/>
                </a:solidFill>
                <a:latin typeface="Aileron"/>
                <a:ea typeface="Aileron"/>
                <a:cs typeface="Aileron"/>
                <a:sym typeface="Aileron"/>
              </a:rPr>
              <a:t>If the data is complete and valid, the system sends a registration confirmation to the patient via email or WhatsApp.</a:t>
            </a:r>
          </a:p>
          <a:p>
            <a:pPr algn="just" marL="518597" indent="-259299" lvl="1">
              <a:lnSpc>
                <a:spcPts val="3747"/>
              </a:lnSpc>
              <a:buAutoNum type="arabicPeriod" startAt="1"/>
            </a:pPr>
            <a:r>
              <a:rPr lang="en-US" sz="2402">
                <a:solidFill>
                  <a:srgbClr val="FFFFFF"/>
                </a:solidFill>
                <a:latin typeface="Aileron"/>
                <a:ea typeface="Aileron"/>
                <a:cs typeface="Aileron"/>
                <a:sym typeface="Aileron"/>
              </a:rPr>
              <a:t>The system also displays an online registration confirmation page containing information such as the registration number and other registration details.</a:t>
            </a:r>
          </a:p>
          <a:p>
            <a:pPr algn="just" marL="518597" indent="-259299" lvl="1">
              <a:lnSpc>
                <a:spcPts val="3747"/>
              </a:lnSpc>
              <a:buAutoNum type="arabicPeriod" startAt="1"/>
            </a:pPr>
            <a:r>
              <a:rPr lang="en-US" sz="2402">
                <a:solidFill>
                  <a:srgbClr val="FFFFFF"/>
                </a:solidFill>
                <a:latin typeface="Aileron"/>
                <a:ea typeface="Aileron"/>
                <a:cs typeface="Aileron"/>
                <a:sym typeface="Aileron"/>
              </a:rPr>
              <a:t>The online registration number or proof must be brought on the day of re-registration:</a:t>
            </a:r>
          </a:p>
          <a:p>
            <a:pPr algn="l" marL="1037194" indent="-345731" lvl="2">
              <a:lnSpc>
                <a:spcPts val="3747"/>
              </a:lnSpc>
              <a:buFont typeface="Arial"/>
              <a:buChar char="⚬"/>
            </a:pPr>
            <a:r>
              <a:rPr lang="en-US" sz="2402">
                <a:solidFill>
                  <a:srgbClr val="FFFFFF"/>
                </a:solidFill>
                <a:latin typeface="Aileron"/>
                <a:ea typeface="Aileron"/>
                <a:cs typeface="Aileron"/>
                <a:sym typeface="Aileron"/>
              </a:rPr>
              <a:t>Existing BPJS patients can re-register at the APM machine.</a:t>
            </a:r>
          </a:p>
          <a:p>
            <a:pPr algn="l" marL="1037194" indent="-345731" lvl="2">
              <a:lnSpc>
                <a:spcPts val="3747"/>
              </a:lnSpc>
              <a:buFont typeface="Arial"/>
              <a:buChar char="⚬"/>
            </a:pPr>
            <a:r>
              <a:rPr lang="en-US" sz="2402">
                <a:solidFill>
                  <a:srgbClr val="FFFFFF"/>
                </a:solidFill>
                <a:latin typeface="Aileron"/>
                <a:ea typeface="Aileron"/>
                <a:cs typeface="Aileron"/>
                <a:sym typeface="Aileron"/>
              </a:rPr>
              <a:t>New patients and existing non-BPJS patients can re-register at the Online Registration Counter.</a:t>
            </a:r>
          </a:p>
          <a:p>
            <a:pPr algn="just" marL="518597" indent="-259299" lvl="1">
              <a:lnSpc>
                <a:spcPts val="3747"/>
              </a:lnSpc>
              <a:buAutoNum type="arabicPeriod" startAt="1"/>
            </a:pPr>
            <a:r>
              <a:rPr lang="en-US" sz="2402">
                <a:solidFill>
                  <a:srgbClr val="FFFFFF"/>
                </a:solidFill>
                <a:latin typeface="Aileron"/>
                <a:ea typeface="Aileron"/>
                <a:cs typeface="Aileron"/>
                <a:sym typeface="Aileron"/>
              </a:rPr>
              <a:t>The doctor consultation queue number follows the order of the online registration.</a:t>
            </a:r>
          </a:p>
          <a:p>
            <a:pPr algn="just" marL="518597" indent="-259299" lvl="1">
              <a:lnSpc>
                <a:spcPts val="3747"/>
              </a:lnSpc>
              <a:buAutoNum type="arabicPeriod" startAt="1"/>
            </a:pPr>
            <a:r>
              <a:rPr lang="en-US" sz="2402">
                <a:solidFill>
                  <a:srgbClr val="FFFFFF"/>
                </a:solidFill>
                <a:latin typeface="Aileron"/>
                <a:ea typeface="Aileron"/>
                <a:cs typeface="Aileron"/>
                <a:sym typeface="Aileron"/>
              </a:rPr>
              <a:t>Patients who have completed online registration are expected to arrive on time, at least 1 hour before the doctor’s clinic schedule.</a:t>
            </a:r>
          </a:p>
          <a:p>
            <a:pPr algn="just">
              <a:lnSpc>
                <a:spcPts val="3747"/>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228" t="-35818" r="-11439" b="0"/>
            </a:stretch>
          </a:blipFill>
        </p:spPr>
      </p:sp>
      <p:grpSp>
        <p:nvGrpSpPr>
          <p:cNvPr name="Group 3" id="3"/>
          <p:cNvGrpSpPr/>
          <p:nvPr/>
        </p:nvGrpSpPr>
        <p:grpSpPr>
          <a:xfrm rot="0">
            <a:off x="14672259" y="487399"/>
            <a:ext cx="2799798" cy="1082602"/>
            <a:chOff x="0" y="0"/>
            <a:chExt cx="3733063" cy="1443469"/>
          </a:xfrm>
        </p:grpSpPr>
        <p:sp>
          <p:nvSpPr>
            <p:cNvPr name="Freeform 4" id="4"/>
            <p:cNvSpPr/>
            <p:nvPr/>
          </p:nvSpPr>
          <p:spPr>
            <a:xfrm flipH="false" flipV="false" rot="0">
              <a:off x="0" y="0"/>
              <a:ext cx="3733038" cy="1443482"/>
            </a:xfrm>
            <a:custGeom>
              <a:avLst/>
              <a:gdLst/>
              <a:ahLst/>
              <a:cxnLst/>
              <a:rect r="r" b="b" t="t" l="l"/>
              <a:pathLst>
                <a:path h="1443482" w="3733038">
                  <a:moveTo>
                    <a:pt x="0" y="0"/>
                  </a:moveTo>
                  <a:lnTo>
                    <a:pt x="3733038" y="0"/>
                  </a:lnTo>
                  <a:lnTo>
                    <a:pt x="3733038" y="1443482"/>
                  </a:lnTo>
                  <a:lnTo>
                    <a:pt x="0" y="1443482"/>
                  </a:lnTo>
                  <a:lnTo>
                    <a:pt x="0" y="0"/>
                  </a:lnTo>
                  <a:close/>
                </a:path>
              </a:pathLst>
            </a:custGeom>
            <a:blipFill>
              <a:blip r:embed="rId4"/>
              <a:stretch>
                <a:fillRect l="0" t="0" r="0" b="-193"/>
              </a:stretch>
            </a:blipFill>
          </p:spPr>
        </p:sp>
      </p:grpSp>
      <p:grpSp>
        <p:nvGrpSpPr>
          <p:cNvPr name="Group 5" id="5"/>
          <p:cNvGrpSpPr/>
          <p:nvPr/>
        </p:nvGrpSpPr>
        <p:grpSpPr>
          <a:xfrm rot="0">
            <a:off x="5278150" y="3258110"/>
            <a:ext cx="7731699" cy="6000190"/>
            <a:chOff x="0" y="0"/>
            <a:chExt cx="804481" cy="624318"/>
          </a:xfrm>
        </p:grpSpPr>
        <p:sp>
          <p:nvSpPr>
            <p:cNvPr name="Freeform 6" id="6"/>
            <p:cNvSpPr/>
            <p:nvPr/>
          </p:nvSpPr>
          <p:spPr>
            <a:xfrm flipH="false" flipV="false" rot="0">
              <a:off x="0" y="0"/>
              <a:ext cx="804481" cy="624318"/>
            </a:xfrm>
            <a:custGeom>
              <a:avLst/>
              <a:gdLst/>
              <a:ahLst/>
              <a:cxnLst/>
              <a:rect r="r" b="b" t="t" l="l"/>
              <a:pathLst>
                <a:path h="624318" w="804481">
                  <a:moveTo>
                    <a:pt x="30040" y="0"/>
                  </a:moveTo>
                  <a:lnTo>
                    <a:pt x="774441" y="0"/>
                  </a:lnTo>
                  <a:cubicBezTo>
                    <a:pt x="791032" y="0"/>
                    <a:pt x="804481" y="13449"/>
                    <a:pt x="804481" y="30040"/>
                  </a:cubicBezTo>
                  <a:lnTo>
                    <a:pt x="804481" y="594278"/>
                  </a:lnTo>
                  <a:cubicBezTo>
                    <a:pt x="804481" y="602245"/>
                    <a:pt x="801316" y="609886"/>
                    <a:pt x="795683" y="615520"/>
                  </a:cubicBezTo>
                  <a:cubicBezTo>
                    <a:pt x="790049" y="621153"/>
                    <a:pt x="782408" y="624318"/>
                    <a:pt x="774441" y="624318"/>
                  </a:cubicBezTo>
                  <a:lnTo>
                    <a:pt x="30040" y="624318"/>
                  </a:lnTo>
                  <a:cubicBezTo>
                    <a:pt x="22073" y="624318"/>
                    <a:pt x="14432" y="621153"/>
                    <a:pt x="8798" y="615520"/>
                  </a:cubicBezTo>
                  <a:cubicBezTo>
                    <a:pt x="3165" y="609886"/>
                    <a:pt x="0" y="602245"/>
                    <a:pt x="0" y="594278"/>
                  </a:cubicBezTo>
                  <a:lnTo>
                    <a:pt x="0" y="30040"/>
                  </a:lnTo>
                  <a:cubicBezTo>
                    <a:pt x="0" y="22073"/>
                    <a:pt x="3165" y="14432"/>
                    <a:pt x="8798" y="8798"/>
                  </a:cubicBezTo>
                  <a:cubicBezTo>
                    <a:pt x="14432" y="3165"/>
                    <a:pt x="22073" y="0"/>
                    <a:pt x="30040" y="0"/>
                  </a:cubicBezTo>
                  <a:close/>
                </a:path>
              </a:pathLst>
            </a:custGeom>
            <a:gradFill rotWithShape="true">
              <a:gsLst>
                <a:gs pos="0">
                  <a:srgbClr val="FFFFFF">
                    <a:alpha val="10000"/>
                  </a:srgbClr>
                </a:gs>
                <a:gs pos="50000">
                  <a:srgbClr val="FFFFFF">
                    <a:alpha val="0"/>
                  </a:srgbClr>
                </a:gs>
                <a:gs pos="100000">
                  <a:srgbClr val="FFFFFF">
                    <a:alpha val="10500"/>
                  </a:srgbClr>
                </a:gs>
              </a:gsLst>
              <a:lin ang="2700000"/>
            </a:gradFill>
            <a:ln w="19050" cap="rnd">
              <a:gradFill>
                <a:gsLst>
                  <a:gs pos="0">
                    <a:srgbClr val="FFFFFF">
                      <a:alpha val="50000"/>
                    </a:srgbClr>
                  </a:gs>
                  <a:gs pos="50000">
                    <a:srgbClr val="FFFFFF">
                      <a:alpha val="0"/>
                    </a:srgbClr>
                  </a:gs>
                  <a:gs pos="100000">
                    <a:srgbClr val="FFFFFF">
                      <a:alpha val="50000"/>
                    </a:srgbClr>
                  </a:gs>
                </a:gsLst>
                <a:lin ang="0"/>
              </a:gradFill>
              <a:prstDash val="solid"/>
              <a:round/>
            </a:ln>
          </p:spPr>
        </p:sp>
        <p:sp>
          <p:nvSpPr>
            <p:cNvPr name="TextBox 7" id="7"/>
            <p:cNvSpPr txBox="true"/>
            <p:nvPr/>
          </p:nvSpPr>
          <p:spPr>
            <a:xfrm>
              <a:off x="0" y="47625"/>
              <a:ext cx="804481" cy="576693"/>
            </a:xfrm>
            <a:prstGeom prst="rect">
              <a:avLst/>
            </a:prstGeom>
          </p:spPr>
          <p:txBody>
            <a:bodyPr anchor="ctr" rtlCol="false" tIns="50800" lIns="50800" bIns="50800" rIns="50800"/>
            <a:lstStyle/>
            <a:p>
              <a:pPr algn="ctr">
                <a:lnSpc>
                  <a:spcPts val="1800"/>
                </a:lnSpc>
              </a:pPr>
            </a:p>
          </p:txBody>
        </p:sp>
      </p:grpSp>
      <p:grpSp>
        <p:nvGrpSpPr>
          <p:cNvPr name="Group 8" id="8"/>
          <p:cNvGrpSpPr/>
          <p:nvPr/>
        </p:nvGrpSpPr>
        <p:grpSpPr>
          <a:xfrm rot="0">
            <a:off x="5770836" y="3680469"/>
            <a:ext cx="852522" cy="85252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
                  </a:srgbClr>
                </a:gs>
                <a:gs pos="50000">
                  <a:srgbClr val="FFFFFF">
                    <a:alpha val="0"/>
                  </a:srgbClr>
                </a:gs>
                <a:gs pos="100000">
                  <a:srgbClr val="FFFFFF">
                    <a:alpha val="10500"/>
                  </a:srgbClr>
                </a:gs>
              </a:gsLst>
              <a:lin ang="2700000"/>
            </a:gradFill>
            <a:ln w="19050" cap="sq">
              <a:gradFill>
                <a:gsLst>
                  <a:gs pos="0">
                    <a:srgbClr val="FFFFFF">
                      <a:alpha val="50000"/>
                    </a:srgbClr>
                  </a:gs>
                  <a:gs pos="50000">
                    <a:srgbClr val="FFFFFF">
                      <a:alpha val="0"/>
                    </a:srgbClr>
                  </a:gs>
                  <a:gs pos="100000">
                    <a:srgbClr val="FFFFFF">
                      <a:alpha val="50000"/>
                    </a:srgbClr>
                  </a:gs>
                </a:gsLst>
                <a:lin ang="0"/>
              </a:gradFill>
              <a:prstDash val="solid"/>
              <a:miter/>
            </a:ln>
          </p:spPr>
        </p:sp>
        <p:sp>
          <p:nvSpPr>
            <p:cNvPr name="TextBox 10" id="10"/>
            <p:cNvSpPr txBox="true"/>
            <p:nvPr/>
          </p:nvSpPr>
          <p:spPr>
            <a:xfrm>
              <a:off x="76200" y="123825"/>
              <a:ext cx="660400" cy="612775"/>
            </a:xfrm>
            <a:prstGeom prst="rect">
              <a:avLst/>
            </a:prstGeom>
          </p:spPr>
          <p:txBody>
            <a:bodyPr anchor="ctr" rtlCol="false" tIns="50800" lIns="50800" bIns="50800" rIns="50800"/>
            <a:lstStyle/>
            <a:p>
              <a:pPr algn="ctr">
                <a:lnSpc>
                  <a:spcPts val="1800"/>
                </a:lnSpc>
              </a:pPr>
            </a:p>
          </p:txBody>
        </p:sp>
      </p:grpSp>
      <p:grpSp>
        <p:nvGrpSpPr>
          <p:cNvPr name="Group 11" id="11"/>
          <p:cNvGrpSpPr/>
          <p:nvPr/>
        </p:nvGrpSpPr>
        <p:grpSpPr>
          <a:xfrm rot="0">
            <a:off x="5758841" y="4827914"/>
            <a:ext cx="852522" cy="85252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
                  </a:srgbClr>
                </a:gs>
                <a:gs pos="50000">
                  <a:srgbClr val="FFFFFF">
                    <a:alpha val="0"/>
                  </a:srgbClr>
                </a:gs>
                <a:gs pos="100000">
                  <a:srgbClr val="FFFFFF">
                    <a:alpha val="10500"/>
                  </a:srgbClr>
                </a:gs>
              </a:gsLst>
              <a:lin ang="2700000"/>
            </a:gradFill>
            <a:ln w="19050" cap="sq">
              <a:gradFill>
                <a:gsLst>
                  <a:gs pos="0">
                    <a:srgbClr val="FFFFFF">
                      <a:alpha val="50000"/>
                    </a:srgbClr>
                  </a:gs>
                  <a:gs pos="50000">
                    <a:srgbClr val="FFFFFF">
                      <a:alpha val="0"/>
                    </a:srgbClr>
                  </a:gs>
                  <a:gs pos="100000">
                    <a:srgbClr val="FFFFFF">
                      <a:alpha val="50000"/>
                    </a:srgbClr>
                  </a:gs>
                </a:gsLst>
                <a:lin ang="0"/>
              </a:gradFill>
              <a:prstDash val="solid"/>
              <a:miter/>
            </a:ln>
          </p:spPr>
        </p:sp>
        <p:sp>
          <p:nvSpPr>
            <p:cNvPr name="TextBox 13" id="13"/>
            <p:cNvSpPr txBox="true"/>
            <p:nvPr/>
          </p:nvSpPr>
          <p:spPr>
            <a:xfrm>
              <a:off x="76200" y="123825"/>
              <a:ext cx="660400" cy="612775"/>
            </a:xfrm>
            <a:prstGeom prst="rect">
              <a:avLst/>
            </a:prstGeom>
          </p:spPr>
          <p:txBody>
            <a:bodyPr anchor="ctr" rtlCol="false" tIns="50800" lIns="50800" bIns="50800" rIns="50800"/>
            <a:lstStyle/>
            <a:p>
              <a:pPr algn="ctr">
                <a:lnSpc>
                  <a:spcPts val="1800"/>
                </a:lnSpc>
              </a:pPr>
            </a:p>
          </p:txBody>
        </p:sp>
      </p:grpSp>
      <p:grpSp>
        <p:nvGrpSpPr>
          <p:cNvPr name="Group 14" id="14"/>
          <p:cNvGrpSpPr/>
          <p:nvPr/>
        </p:nvGrpSpPr>
        <p:grpSpPr>
          <a:xfrm rot="0">
            <a:off x="5753247" y="5975359"/>
            <a:ext cx="852522" cy="85252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
                  </a:srgbClr>
                </a:gs>
                <a:gs pos="50000">
                  <a:srgbClr val="FFFFFF">
                    <a:alpha val="0"/>
                  </a:srgbClr>
                </a:gs>
                <a:gs pos="100000">
                  <a:srgbClr val="FFFFFF">
                    <a:alpha val="10500"/>
                  </a:srgbClr>
                </a:gs>
              </a:gsLst>
              <a:lin ang="2700000"/>
            </a:gradFill>
            <a:ln w="19050" cap="sq">
              <a:gradFill>
                <a:gsLst>
                  <a:gs pos="0">
                    <a:srgbClr val="FFFFFF">
                      <a:alpha val="50000"/>
                    </a:srgbClr>
                  </a:gs>
                  <a:gs pos="50000">
                    <a:srgbClr val="FFFFFF">
                      <a:alpha val="0"/>
                    </a:srgbClr>
                  </a:gs>
                  <a:gs pos="100000">
                    <a:srgbClr val="FFFFFF">
                      <a:alpha val="50000"/>
                    </a:srgbClr>
                  </a:gs>
                </a:gsLst>
                <a:lin ang="0"/>
              </a:gradFill>
              <a:prstDash val="solid"/>
              <a:miter/>
            </a:ln>
          </p:spPr>
        </p:sp>
        <p:sp>
          <p:nvSpPr>
            <p:cNvPr name="TextBox 16" id="16"/>
            <p:cNvSpPr txBox="true"/>
            <p:nvPr/>
          </p:nvSpPr>
          <p:spPr>
            <a:xfrm>
              <a:off x="76200" y="123825"/>
              <a:ext cx="660400" cy="612775"/>
            </a:xfrm>
            <a:prstGeom prst="rect">
              <a:avLst/>
            </a:prstGeom>
          </p:spPr>
          <p:txBody>
            <a:bodyPr anchor="ctr" rtlCol="false" tIns="50800" lIns="50800" bIns="50800" rIns="50800"/>
            <a:lstStyle/>
            <a:p>
              <a:pPr algn="ctr">
                <a:lnSpc>
                  <a:spcPts val="1800"/>
                </a:lnSpc>
              </a:pPr>
            </a:p>
          </p:txBody>
        </p:sp>
      </p:grpSp>
      <p:grpSp>
        <p:nvGrpSpPr>
          <p:cNvPr name="Group 17" id="17"/>
          <p:cNvGrpSpPr/>
          <p:nvPr/>
        </p:nvGrpSpPr>
        <p:grpSpPr>
          <a:xfrm rot="0">
            <a:off x="5758841" y="7118451"/>
            <a:ext cx="852522" cy="85252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
                  </a:srgbClr>
                </a:gs>
                <a:gs pos="50000">
                  <a:srgbClr val="FFFFFF">
                    <a:alpha val="0"/>
                  </a:srgbClr>
                </a:gs>
                <a:gs pos="100000">
                  <a:srgbClr val="FFFFFF">
                    <a:alpha val="10500"/>
                  </a:srgbClr>
                </a:gs>
              </a:gsLst>
              <a:lin ang="2700000"/>
            </a:gradFill>
            <a:ln w="19050" cap="sq">
              <a:gradFill>
                <a:gsLst>
                  <a:gs pos="0">
                    <a:srgbClr val="FFFFFF">
                      <a:alpha val="50000"/>
                    </a:srgbClr>
                  </a:gs>
                  <a:gs pos="50000">
                    <a:srgbClr val="FFFFFF">
                      <a:alpha val="0"/>
                    </a:srgbClr>
                  </a:gs>
                  <a:gs pos="100000">
                    <a:srgbClr val="FFFFFF">
                      <a:alpha val="50000"/>
                    </a:srgbClr>
                  </a:gs>
                </a:gsLst>
                <a:lin ang="0"/>
              </a:gradFill>
              <a:prstDash val="solid"/>
              <a:miter/>
            </a:ln>
          </p:spPr>
        </p:sp>
        <p:sp>
          <p:nvSpPr>
            <p:cNvPr name="TextBox 19" id="19"/>
            <p:cNvSpPr txBox="true"/>
            <p:nvPr/>
          </p:nvSpPr>
          <p:spPr>
            <a:xfrm>
              <a:off x="76200" y="123825"/>
              <a:ext cx="660400" cy="612775"/>
            </a:xfrm>
            <a:prstGeom prst="rect">
              <a:avLst/>
            </a:prstGeom>
          </p:spPr>
          <p:txBody>
            <a:bodyPr anchor="ctr" rtlCol="false" tIns="50800" lIns="50800" bIns="50800" rIns="50800"/>
            <a:lstStyle/>
            <a:p>
              <a:pPr algn="ctr">
                <a:lnSpc>
                  <a:spcPts val="1800"/>
                </a:lnSpc>
              </a:pPr>
            </a:p>
          </p:txBody>
        </p:sp>
      </p:grpSp>
      <p:sp>
        <p:nvSpPr>
          <p:cNvPr name="TextBox 20" id="20"/>
          <p:cNvSpPr txBox="true"/>
          <p:nvPr/>
        </p:nvSpPr>
        <p:spPr>
          <a:xfrm rot="0">
            <a:off x="5950297" y="3875407"/>
            <a:ext cx="493600" cy="510272"/>
          </a:xfrm>
          <a:prstGeom prst="rect">
            <a:avLst/>
          </a:prstGeom>
        </p:spPr>
        <p:txBody>
          <a:bodyPr anchor="t" rtlCol="false" tIns="0" lIns="0" bIns="0" rIns="0">
            <a:spAutoFit/>
          </a:bodyPr>
          <a:lstStyle/>
          <a:p>
            <a:pPr algn="ctr">
              <a:lnSpc>
                <a:spcPts val="3843"/>
              </a:lnSpc>
            </a:pPr>
            <a:r>
              <a:rPr lang="en-US" b="true" sz="3660" spc="-109">
                <a:solidFill>
                  <a:srgbClr val="F2F5FF"/>
                </a:solidFill>
                <a:latin typeface="Aileron Bold"/>
                <a:ea typeface="Aileron Bold"/>
                <a:cs typeface="Aileron Bold"/>
                <a:sym typeface="Aileron Bold"/>
              </a:rPr>
              <a:t>1</a:t>
            </a:r>
          </a:p>
        </p:txBody>
      </p:sp>
      <p:sp>
        <p:nvSpPr>
          <p:cNvPr name="TextBox 21" id="21"/>
          <p:cNvSpPr txBox="true"/>
          <p:nvPr/>
        </p:nvSpPr>
        <p:spPr>
          <a:xfrm rot="0">
            <a:off x="5950297" y="5015582"/>
            <a:ext cx="493600" cy="510272"/>
          </a:xfrm>
          <a:prstGeom prst="rect">
            <a:avLst/>
          </a:prstGeom>
        </p:spPr>
        <p:txBody>
          <a:bodyPr anchor="t" rtlCol="false" tIns="0" lIns="0" bIns="0" rIns="0">
            <a:spAutoFit/>
          </a:bodyPr>
          <a:lstStyle/>
          <a:p>
            <a:pPr algn="ctr">
              <a:lnSpc>
                <a:spcPts val="3843"/>
              </a:lnSpc>
            </a:pPr>
            <a:r>
              <a:rPr lang="en-US" b="true" sz="3660" spc="-109">
                <a:solidFill>
                  <a:srgbClr val="F2F5FF"/>
                </a:solidFill>
                <a:latin typeface="Aileron Bold"/>
                <a:ea typeface="Aileron Bold"/>
                <a:cs typeface="Aileron Bold"/>
                <a:sym typeface="Aileron Bold"/>
              </a:rPr>
              <a:t>2</a:t>
            </a:r>
          </a:p>
        </p:txBody>
      </p:sp>
      <p:sp>
        <p:nvSpPr>
          <p:cNvPr name="TextBox 22" id="22"/>
          <p:cNvSpPr txBox="true"/>
          <p:nvPr/>
        </p:nvSpPr>
        <p:spPr>
          <a:xfrm rot="0">
            <a:off x="7254402" y="3913757"/>
            <a:ext cx="5040603" cy="418601"/>
          </a:xfrm>
          <a:prstGeom prst="rect">
            <a:avLst/>
          </a:prstGeom>
        </p:spPr>
        <p:txBody>
          <a:bodyPr anchor="t" rtlCol="false" tIns="0" lIns="0" bIns="0" rIns="0">
            <a:spAutoFit/>
          </a:bodyPr>
          <a:lstStyle/>
          <a:p>
            <a:pPr algn="l">
              <a:lnSpc>
                <a:spcPts val="3172"/>
              </a:lnSpc>
            </a:pPr>
            <a:r>
              <a:rPr lang="en-US" sz="3172" spc="-158">
                <a:solidFill>
                  <a:srgbClr val="F2F5FF"/>
                </a:solidFill>
                <a:latin typeface="Aileron"/>
                <a:ea typeface="Aileron"/>
                <a:cs typeface="Aileron"/>
                <a:sym typeface="Aileron"/>
              </a:rPr>
              <a:t>Flowchart</a:t>
            </a:r>
          </a:p>
        </p:txBody>
      </p:sp>
      <p:sp>
        <p:nvSpPr>
          <p:cNvPr name="TextBox 23" id="23"/>
          <p:cNvSpPr txBox="true"/>
          <p:nvPr/>
        </p:nvSpPr>
        <p:spPr>
          <a:xfrm rot="0">
            <a:off x="7254402" y="5053932"/>
            <a:ext cx="5040603" cy="418601"/>
          </a:xfrm>
          <a:prstGeom prst="rect">
            <a:avLst/>
          </a:prstGeom>
        </p:spPr>
        <p:txBody>
          <a:bodyPr anchor="t" rtlCol="false" tIns="0" lIns="0" bIns="0" rIns="0">
            <a:spAutoFit/>
          </a:bodyPr>
          <a:lstStyle/>
          <a:p>
            <a:pPr algn="l">
              <a:lnSpc>
                <a:spcPts val="3172"/>
              </a:lnSpc>
            </a:pPr>
            <a:r>
              <a:rPr lang="en-US" sz="3172" spc="-158">
                <a:solidFill>
                  <a:srgbClr val="F2F5FF"/>
                </a:solidFill>
                <a:latin typeface="Aileron"/>
                <a:ea typeface="Aileron"/>
                <a:cs typeface="Aileron"/>
                <a:sym typeface="Aileron"/>
              </a:rPr>
              <a:t>Data Flow Diagram DFD 0</a:t>
            </a:r>
          </a:p>
        </p:txBody>
      </p:sp>
      <p:sp>
        <p:nvSpPr>
          <p:cNvPr name="TextBox 24" id="24"/>
          <p:cNvSpPr txBox="true"/>
          <p:nvPr/>
        </p:nvSpPr>
        <p:spPr>
          <a:xfrm rot="0">
            <a:off x="5950297" y="6155757"/>
            <a:ext cx="493600" cy="510272"/>
          </a:xfrm>
          <a:prstGeom prst="rect">
            <a:avLst/>
          </a:prstGeom>
        </p:spPr>
        <p:txBody>
          <a:bodyPr anchor="t" rtlCol="false" tIns="0" lIns="0" bIns="0" rIns="0">
            <a:spAutoFit/>
          </a:bodyPr>
          <a:lstStyle/>
          <a:p>
            <a:pPr algn="ctr">
              <a:lnSpc>
                <a:spcPts val="3843"/>
              </a:lnSpc>
            </a:pPr>
            <a:r>
              <a:rPr lang="en-US" b="true" sz="3660" spc="-109">
                <a:solidFill>
                  <a:srgbClr val="F2F5FF"/>
                </a:solidFill>
                <a:latin typeface="Aileron Bold"/>
                <a:ea typeface="Aileron Bold"/>
                <a:cs typeface="Aileron Bold"/>
                <a:sym typeface="Aileron Bold"/>
              </a:rPr>
              <a:t>3</a:t>
            </a:r>
          </a:p>
        </p:txBody>
      </p:sp>
      <p:sp>
        <p:nvSpPr>
          <p:cNvPr name="TextBox 25" id="25"/>
          <p:cNvSpPr txBox="true"/>
          <p:nvPr/>
        </p:nvSpPr>
        <p:spPr>
          <a:xfrm rot="0">
            <a:off x="7254402" y="6194108"/>
            <a:ext cx="5040603" cy="418601"/>
          </a:xfrm>
          <a:prstGeom prst="rect">
            <a:avLst/>
          </a:prstGeom>
        </p:spPr>
        <p:txBody>
          <a:bodyPr anchor="t" rtlCol="false" tIns="0" lIns="0" bIns="0" rIns="0">
            <a:spAutoFit/>
          </a:bodyPr>
          <a:lstStyle/>
          <a:p>
            <a:pPr algn="l">
              <a:lnSpc>
                <a:spcPts val="3172"/>
              </a:lnSpc>
            </a:pPr>
            <a:r>
              <a:rPr lang="en-US" sz="3172" spc="-158">
                <a:solidFill>
                  <a:srgbClr val="F2F5FF"/>
                </a:solidFill>
                <a:latin typeface="Aileron"/>
                <a:ea typeface="Aileron"/>
                <a:cs typeface="Aileron"/>
                <a:sym typeface="Aileron"/>
              </a:rPr>
              <a:t>Use Case Diagram</a:t>
            </a:r>
          </a:p>
        </p:txBody>
      </p:sp>
      <p:sp>
        <p:nvSpPr>
          <p:cNvPr name="TextBox 26" id="26"/>
          <p:cNvSpPr txBox="true"/>
          <p:nvPr/>
        </p:nvSpPr>
        <p:spPr>
          <a:xfrm rot="0">
            <a:off x="5950297" y="7295932"/>
            <a:ext cx="493600" cy="510272"/>
          </a:xfrm>
          <a:prstGeom prst="rect">
            <a:avLst/>
          </a:prstGeom>
        </p:spPr>
        <p:txBody>
          <a:bodyPr anchor="t" rtlCol="false" tIns="0" lIns="0" bIns="0" rIns="0">
            <a:spAutoFit/>
          </a:bodyPr>
          <a:lstStyle/>
          <a:p>
            <a:pPr algn="ctr">
              <a:lnSpc>
                <a:spcPts val="3843"/>
              </a:lnSpc>
            </a:pPr>
            <a:r>
              <a:rPr lang="en-US" b="true" sz="3660" spc="-109">
                <a:solidFill>
                  <a:srgbClr val="F2F5FF"/>
                </a:solidFill>
                <a:latin typeface="Aileron Bold"/>
                <a:ea typeface="Aileron Bold"/>
                <a:cs typeface="Aileron Bold"/>
                <a:sym typeface="Aileron Bold"/>
              </a:rPr>
              <a:t>4</a:t>
            </a:r>
          </a:p>
        </p:txBody>
      </p:sp>
      <p:sp>
        <p:nvSpPr>
          <p:cNvPr name="TextBox 27" id="27"/>
          <p:cNvSpPr txBox="true"/>
          <p:nvPr/>
        </p:nvSpPr>
        <p:spPr>
          <a:xfrm rot="0">
            <a:off x="7254402" y="7334283"/>
            <a:ext cx="5040603" cy="418601"/>
          </a:xfrm>
          <a:prstGeom prst="rect">
            <a:avLst/>
          </a:prstGeom>
        </p:spPr>
        <p:txBody>
          <a:bodyPr anchor="t" rtlCol="false" tIns="0" lIns="0" bIns="0" rIns="0">
            <a:spAutoFit/>
          </a:bodyPr>
          <a:lstStyle/>
          <a:p>
            <a:pPr algn="l">
              <a:lnSpc>
                <a:spcPts val="3172"/>
              </a:lnSpc>
            </a:pPr>
            <a:r>
              <a:rPr lang="en-US" sz="3172" spc="-158">
                <a:solidFill>
                  <a:srgbClr val="F2F5FF"/>
                </a:solidFill>
                <a:latin typeface="Aileron"/>
                <a:ea typeface="Aileron"/>
                <a:cs typeface="Aileron"/>
                <a:sym typeface="Aileron"/>
              </a:rPr>
              <a:t>Activity Diagram</a:t>
            </a:r>
          </a:p>
        </p:txBody>
      </p:sp>
      <p:grpSp>
        <p:nvGrpSpPr>
          <p:cNvPr name="Group 28" id="28"/>
          <p:cNvGrpSpPr/>
          <p:nvPr/>
        </p:nvGrpSpPr>
        <p:grpSpPr>
          <a:xfrm rot="0">
            <a:off x="5770836" y="8263531"/>
            <a:ext cx="852522" cy="852522"/>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
                  </a:srgbClr>
                </a:gs>
                <a:gs pos="50000">
                  <a:srgbClr val="FFFFFF">
                    <a:alpha val="0"/>
                  </a:srgbClr>
                </a:gs>
                <a:gs pos="100000">
                  <a:srgbClr val="FFFFFF">
                    <a:alpha val="10500"/>
                  </a:srgbClr>
                </a:gs>
              </a:gsLst>
              <a:lin ang="2700000"/>
            </a:gradFill>
            <a:ln w="19050" cap="sq">
              <a:gradFill>
                <a:gsLst>
                  <a:gs pos="0">
                    <a:srgbClr val="FFFFFF">
                      <a:alpha val="50000"/>
                    </a:srgbClr>
                  </a:gs>
                  <a:gs pos="50000">
                    <a:srgbClr val="FFFFFF">
                      <a:alpha val="0"/>
                    </a:srgbClr>
                  </a:gs>
                  <a:gs pos="100000">
                    <a:srgbClr val="FFFFFF">
                      <a:alpha val="50000"/>
                    </a:srgbClr>
                  </a:gs>
                </a:gsLst>
                <a:lin ang="0"/>
              </a:gradFill>
              <a:prstDash val="solid"/>
              <a:miter/>
            </a:ln>
          </p:spPr>
        </p:sp>
        <p:sp>
          <p:nvSpPr>
            <p:cNvPr name="TextBox 30" id="30"/>
            <p:cNvSpPr txBox="true"/>
            <p:nvPr/>
          </p:nvSpPr>
          <p:spPr>
            <a:xfrm>
              <a:off x="76200" y="123825"/>
              <a:ext cx="660400" cy="612775"/>
            </a:xfrm>
            <a:prstGeom prst="rect">
              <a:avLst/>
            </a:prstGeom>
          </p:spPr>
          <p:txBody>
            <a:bodyPr anchor="ctr" rtlCol="false" tIns="50800" lIns="50800" bIns="50800" rIns="50800"/>
            <a:lstStyle/>
            <a:p>
              <a:pPr algn="ctr">
                <a:lnSpc>
                  <a:spcPts val="1800"/>
                </a:lnSpc>
              </a:pPr>
            </a:p>
          </p:txBody>
        </p:sp>
      </p:grpSp>
      <p:sp>
        <p:nvSpPr>
          <p:cNvPr name="TextBox 31" id="31"/>
          <p:cNvSpPr txBox="true"/>
          <p:nvPr/>
        </p:nvSpPr>
        <p:spPr>
          <a:xfrm rot="0">
            <a:off x="5962293" y="8441012"/>
            <a:ext cx="493600" cy="510272"/>
          </a:xfrm>
          <a:prstGeom prst="rect">
            <a:avLst/>
          </a:prstGeom>
        </p:spPr>
        <p:txBody>
          <a:bodyPr anchor="t" rtlCol="false" tIns="0" lIns="0" bIns="0" rIns="0">
            <a:spAutoFit/>
          </a:bodyPr>
          <a:lstStyle/>
          <a:p>
            <a:pPr algn="ctr">
              <a:lnSpc>
                <a:spcPts val="3843"/>
              </a:lnSpc>
            </a:pPr>
            <a:r>
              <a:rPr lang="en-US" b="true" sz="3660" spc="-109">
                <a:solidFill>
                  <a:srgbClr val="F2F5FF"/>
                </a:solidFill>
                <a:latin typeface="Aileron Bold"/>
                <a:ea typeface="Aileron Bold"/>
                <a:cs typeface="Aileron Bold"/>
                <a:sym typeface="Aileron Bold"/>
              </a:rPr>
              <a:t>5</a:t>
            </a:r>
          </a:p>
        </p:txBody>
      </p:sp>
      <p:grpSp>
        <p:nvGrpSpPr>
          <p:cNvPr name="Group 32" id="32"/>
          <p:cNvGrpSpPr/>
          <p:nvPr/>
        </p:nvGrpSpPr>
        <p:grpSpPr>
          <a:xfrm rot="5400000">
            <a:off x="4479117" y="1219103"/>
            <a:ext cx="9329765" cy="8948959"/>
            <a:chOff x="0" y="0"/>
            <a:chExt cx="622300" cy="596900"/>
          </a:xfrm>
        </p:grpSpPr>
        <p:sp>
          <p:nvSpPr>
            <p:cNvPr name="Freeform 33" id="33"/>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true">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sp>
        <p:sp>
          <p:nvSpPr>
            <p:cNvPr name="TextBox 34" id="34"/>
            <p:cNvSpPr txBox="true"/>
            <p:nvPr/>
          </p:nvSpPr>
          <p:spPr>
            <a:xfrm>
              <a:off x="0" y="107950"/>
              <a:ext cx="622300" cy="361950"/>
            </a:xfrm>
            <a:prstGeom prst="rect">
              <a:avLst/>
            </a:prstGeom>
          </p:spPr>
          <p:txBody>
            <a:bodyPr anchor="ctr" rtlCol="false" tIns="50800" lIns="50800" bIns="50800" rIns="50800"/>
            <a:lstStyle/>
            <a:p>
              <a:pPr algn="ctr" marL="0" indent="0" lvl="0">
                <a:lnSpc>
                  <a:spcPts val="6006"/>
                </a:lnSpc>
                <a:spcBef>
                  <a:spcPct val="0"/>
                </a:spcBef>
              </a:pPr>
            </a:p>
          </p:txBody>
        </p:sp>
      </p:grpSp>
      <p:sp>
        <p:nvSpPr>
          <p:cNvPr name="TextBox 35" id="35"/>
          <p:cNvSpPr txBox="true"/>
          <p:nvPr/>
        </p:nvSpPr>
        <p:spPr>
          <a:xfrm rot="0">
            <a:off x="3760857" y="1787686"/>
            <a:ext cx="10766286" cy="1013224"/>
          </a:xfrm>
          <a:prstGeom prst="rect">
            <a:avLst/>
          </a:prstGeom>
        </p:spPr>
        <p:txBody>
          <a:bodyPr anchor="t" rtlCol="false" tIns="0" lIns="0" bIns="0" rIns="0">
            <a:spAutoFit/>
          </a:bodyPr>
          <a:lstStyle/>
          <a:p>
            <a:pPr algn="ctr" marL="0" indent="0" lvl="0">
              <a:lnSpc>
                <a:spcPts val="6006"/>
              </a:lnSpc>
              <a:spcBef>
                <a:spcPct val="0"/>
              </a:spcBef>
            </a:pPr>
            <a:r>
              <a:rPr lang="en-US" b="true" sz="6529" spc="-424" strike="noStrike" u="none">
                <a:solidFill>
                  <a:srgbClr val="FFFFFF"/>
                </a:solidFill>
                <a:latin typeface="Agrandir Bold"/>
                <a:ea typeface="Agrandir Bold"/>
                <a:cs typeface="Agrandir Bold"/>
                <a:sym typeface="Agrandir Bold"/>
              </a:rPr>
              <a:t>System Design</a:t>
            </a:r>
          </a:p>
        </p:txBody>
      </p:sp>
      <p:sp>
        <p:nvSpPr>
          <p:cNvPr name="TextBox 36" id="36"/>
          <p:cNvSpPr txBox="true"/>
          <p:nvPr/>
        </p:nvSpPr>
        <p:spPr>
          <a:xfrm rot="0">
            <a:off x="7266397" y="8479362"/>
            <a:ext cx="5040603" cy="418601"/>
          </a:xfrm>
          <a:prstGeom prst="rect">
            <a:avLst/>
          </a:prstGeom>
        </p:spPr>
        <p:txBody>
          <a:bodyPr anchor="t" rtlCol="false" tIns="0" lIns="0" bIns="0" rIns="0">
            <a:spAutoFit/>
          </a:bodyPr>
          <a:lstStyle/>
          <a:p>
            <a:pPr algn="l">
              <a:lnSpc>
                <a:spcPts val="3172"/>
              </a:lnSpc>
            </a:pPr>
            <a:r>
              <a:rPr lang="en-US" sz="3172" spc="-158">
                <a:solidFill>
                  <a:srgbClr val="F2F5FF"/>
                </a:solidFill>
                <a:latin typeface="Aileron"/>
                <a:ea typeface="Aileron"/>
                <a:cs typeface="Aileron"/>
                <a:sym typeface="Aileron"/>
              </a:rPr>
              <a:t>Sequence Diagram</a:t>
            </a:r>
          </a:p>
        </p:txBody>
      </p:sp>
      <p:grpSp>
        <p:nvGrpSpPr>
          <p:cNvPr name="Group 37" id="37"/>
          <p:cNvGrpSpPr/>
          <p:nvPr/>
        </p:nvGrpSpPr>
        <p:grpSpPr>
          <a:xfrm rot="5400000">
            <a:off x="12945683" y="6409665"/>
            <a:ext cx="9329765" cy="8948959"/>
            <a:chOff x="0" y="0"/>
            <a:chExt cx="622300" cy="596900"/>
          </a:xfrm>
        </p:grpSpPr>
        <p:sp>
          <p:nvSpPr>
            <p:cNvPr name="Freeform 38" id="38"/>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true">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sp>
        <p:sp>
          <p:nvSpPr>
            <p:cNvPr name="TextBox 39" id="39"/>
            <p:cNvSpPr txBox="true"/>
            <p:nvPr/>
          </p:nvSpPr>
          <p:spPr>
            <a:xfrm>
              <a:off x="0" y="174625"/>
              <a:ext cx="622300" cy="295275"/>
            </a:xfrm>
            <a:prstGeom prst="rect">
              <a:avLst/>
            </a:prstGeom>
          </p:spPr>
          <p:txBody>
            <a:bodyPr anchor="ctr" rtlCol="false" tIns="50800" lIns="50800" bIns="50800" rIns="50800"/>
            <a:lstStyle/>
            <a:p>
              <a:pPr algn="ctr">
                <a:lnSpc>
                  <a:spcPts val="1800"/>
                </a:lnSpc>
              </a:pPr>
            </a:p>
          </p:txBody>
        </p:sp>
      </p:grpSp>
      <p:grpSp>
        <p:nvGrpSpPr>
          <p:cNvPr name="Group 40" id="40"/>
          <p:cNvGrpSpPr/>
          <p:nvPr/>
        </p:nvGrpSpPr>
        <p:grpSpPr>
          <a:xfrm rot="5400000">
            <a:off x="-3987448" y="6409665"/>
            <a:ext cx="9329765" cy="8948959"/>
            <a:chOff x="0" y="0"/>
            <a:chExt cx="622300" cy="596900"/>
          </a:xfrm>
        </p:grpSpPr>
        <p:sp>
          <p:nvSpPr>
            <p:cNvPr name="Freeform 41" id="41"/>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true">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sp>
        <p:sp>
          <p:nvSpPr>
            <p:cNvPr name="TextBox 42" id="42"/>
            <p:cNvSpPr txBox="true"/>
            <p:nvPr/>
          </p:nvSpPr>
          <p:spPr>
            <a:xfrm>
              <a:off x="0" y="174625"/>
              <a:ext cx="622300" cy="295275"/>
            </a:xfrm>
            <a:prstGeom prst="rect">
              <a:avLst/>
            </a:prstGeom>
          </p:spPr>
          <p:txBody>
            <a:bodyPr anchor="ctr" rtlCol="false" tIns="50800" lIns="50800" bIns="50800" rIns="50800"/>
            <a:lstStyle/>
            <a:p>
              <a:pPr algn="ctr">
                <a:lnSpc>
                  <a:spcPts val="1800"/>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228" t="-35818" r="-11439" b="0"/>
            </a:stretch>
          </a:blipFill>
        </p:spPr>
      </p:sp>
      <p:grpSp>
        <p:nvGrpSpPr>
          <p:cNvPr name="Group 3" id="3"/>
          <p:cNvGrpSpPr/>
          <p:nvPr/>
        </p:nvGrpSpPr>
        <p:grpSpPr>
          <a:xfrm rot="0">
            <a:off x="14672259" y="487399"/>
            <a:ext cx="2799798" cy="1082602"/>
            <a:chOff x="0" y="0"/>
            <a:chExt cx="3733063" cy="1443469"/>
          </a:xfrm>
        </p:grpSpPr>
        <p:sp>
          <p:nvSpPr>
            <p:cNvPr name="Freeform 4" id="4"/>
            <p:cNvSpPr/>
            <p:nvPr/>
          </p:nvSpPr>
          <p:spPr>
            <a:xfrm flipH="false" flipV="false" rot="0">
              <a:off x="0" y="0"/>
              <a:ext cx="3733038" cy="1443482"/>
            </a:xfrm>
            <a:custGeom>
              <a:avLst/>
              <a:gdLst/>
              <a:ahLst/>
              <a:cxnLst/>
              <a:rect r="r" b="b" t="t" l="l"/>
              <a:pathLst>
                <a:path h="1443482" w="3733038">
                  <a:moveTo>
                    <a:pt x="0" y="0"/>
                  </a:moveTo>
                  <a:lnTo>
                    <a:pt x="3733038" y="0"/>
                  </a:lnTo>
                  <a:lnTo>
                    <a:pt x="3733038" y="1443482"/>
                  </a:lnTo>
                  <a:lnTo>
                    <a:pt x="0" y="1443482"/>
                  </a:lnTo>
                  <a:lnTo>
                    <a:pt x="0" y="0"/>
                  </a:lnTo>
                  <a:close/>
                </a:path>
              </a:pathLst>
            </a:custGeom>
            <a:blipFill>
              <a:blip r:embed="rId4"/>
              <a:stretch>
                <a:fillRect l="0" t="0" r="0" b="-193"/>
              </a:stretch>
            </a:blipFill>
          </p:spPr>
        </p:sp>
      </p:grpSp>
      <p:grpSp>
        <p:nvGrpSpPr>
          <p:cNvPr name="Group 5" id="5"/>
          <p:cNvGrpSpPr/>
          <p:nvPr/>
        </p:nvGrpSpPr>
        <p:grpSpPr>
          <a:xfrm rot="5400000">
            <a:off x="-3987448" y="6409665"/>
            <a:ext cx="9329765" cy="8948959"/>
            <a:chOff x="0" y="0"/>
            <a:chExt cx="622300" cy="596900"/>
          </a:xfrm>
        </p:grpSpPr>
        <p:sp>
          <p:nvSpPr>
            <p:cNvPr name="Freeform 6" id="6"/>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true">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sp>
        <p:sp>
          <p:nvSpPr>
            <p:cNvPr name="TextBox 7" id="7"/>
            <p:cNvSpPr txBox="true"/>
            <p:nvPr/>
          </p:nvSpPr>
          <p:spPr>
            <a:xfrm>
              <a:off x="0" y="174625"/>
              <a:ext cx="622300" cy="295275"/>
            </a:xfrm>
            <a:prstGeom prst="rect">
              <a:avLst/>
            </a:prstGeom>
          </p:spPr>
          <p:txBody>
            <a:bodyPr anchor="ctr" rtlCol="false" tIns="50800" lIns="50800" bIns="50800" rIns="50800"/>
            <a:lstStyle/>
            <a:p>
              <a:pPr algn="ctr">
                <a:lnSpc>
                  <a:spcPts val="1800"/>
                </a:lnSpc>
              </a:pPr>
            </a:p>
          </p:txBody>
        </p:sp>
      </p:grpSp>
      <p:sp>
        <p:nvSpPr>
          <p:cNvPr name="Freeform 8" id="8"/>
          <p:cNvSpPr/>
          <p:nvPr/>
        </p:nvSpPr>
        <p:spPr>
          <a:xfrm flipH="false" flipV="false" rot="0">
            <a:off x="2521806" y="2190518"/>
            <a:ext cx="13244388" cy="7681745"/>
          </a:xfrm>
          <a:custGeom>
            <a:avLst/>
            <a:gdLst/>
            <a:ahLst/>
            <a:cxnLst/>
            <a:rect r="r" b="b" t="t" l="l"/>
            <a:pathLst>
              <a:path h="7681745" w="13244388">
                <a:moveTo>
                  <a:pt x="0" y="0"/>
                </a:moveTo>
                <a:lnTo>
                  <a:pt x="13244388" y="0"/>
                </a:lnTo>
                <a:lnTo>
                  <a:pt x="13244388" y="7681746"/>
                </a:lnTo>
                <a:lnTo>
                  <a:pt x="0" y="7681746"/>
                </a:lnTo>
                <a:lnTo>
                  <a:pt x="0" y="0"/>
                </a:lnTo>
                <a:close/>
              </a:path>
            </a:pathLst>
          </a:custGeom>
          <a:blipFill>
            <a:blip r:embed="rId5"/>
            <a:stretch>
              <a:fillRect l="0" t="0" r="0" b="0"/>
            </a:stretch>
          </a:blipFill>
        </p:spPr>
      </p:sp>
      <p:sp>
        <p:nvSpPr>
          <p:cNvPr name="TextBox 9" id="9"/>
          <p:cNvSpPr txBox="true"/>
          <p:nvPr/>
        </p:nvSpPr>
        <p:spPr>
          <a:xfrm rot="0">
            <a:off x="3760857" y="556777"/>
            <a:ext cx="10766286" cy="1013224"/>
          </a:xfrm>
          <a:prstGeom prst="rect">
            <a:avLst/>
          </a:prstGeom>
        </p:spPr>
        <p:txBody>
          <a:bodyPr anchor="t" rtlCol="false" tIns="0" lIns="0" bIns="0" rIns="0">
            <a:spAutoFit/>
          </a:bodyPr>
          <a:lstStyle/>
          <a:p>
            <a:pPr algn="ctr" marL="0" indent="0" lvl="0">
              <a:lnSpc>
                <a:spcPts val="6006"/>
              </a:lnSpc>
              <a:spcBef>
                <a:spcPct val="0"/>
              </a:spcBef>
            </a:pPr>
            <a:r>
              <a:rPr lang="en-US" b="true" sz="6529" spc="-424">
                <a:solidFill>
                  <a:srgbClr val="FFFFFF"/>
                </a:solidFill>
                <a:latin typeface="Agrandir Bold"/>
                <a:ea typeface="Agrandir Bold"/>
                <a:cs typeface="Agrandir Bold"/>
                <a:sym typeface="Agrandir Bold"/>
              </a:rPr>
              <a:t>FLOWCHART</a:t>
            </a:r>
          </a:p>
        </p:txBody>
      </p:sp>
      <p:sp>
        <p:nvSpPr>
          <p:cNvPr name="TextBox 10" id="10"/>
          <p:cNvSpPr txBox="true"/>
          <p:nvPr/>
        </p:nvSpPr>
        <p:spPr>
          <a:xfrm rot="0">
            <a:off x="7112843" y="1522376"/>
            <a:ext cx="4062313" cy="349250"/>
          </a:xfrm>
          <a:prstGeom prst="rect">
            <a:avLst/>
          </a:prstGeom>
        </p:spPr>
        <p:txBody>
          <a:bodyPr anchor="t" rtlCol="false" tIns="0" lIns="0" bIns="0" rIns="0">
            <a:spAutoFit/>
          </a:bodyPr>
          <a:lstStyle/>
          <a:p>
            <a:pPr algn="l">
              <a:lnSpc>
                <a:spcPts val="2800"/>
              </a:lnSpc>
            </a:pPr>
            <a:r>
              <a:rPr lang="en-US" sz="2000">
                <a:solidFill>
                  <a:srgbClr val="FFFFFF"/>
                </a:solidFill>
                <a:latin typeface="Aileron"/>
                <a:ea typeface="Aileron"/>
                <a:cs typeface="Aileron"/>
                <a:sym typeface="Aileron"/>
              </a:rPr>
              <a:t>KlinikGo Online Registration System</a:t>
            </a:r>
          </a:p>
        </p:txBody>
      </p:sp>
      <p:grpSp>
        <p:nvGrpSpPr>
          <p:cNvPr name="Group 11" id="11"/>
          <p:cNvGrpSpPr/>
          <p:nvPr/>
        </p:nvGrpSpPr>
        <p:grpSpPr>
          <a:xfrm rot="0">
            <a:off x="12612727" y="7365124"/>
            <a:ext cx="5078327" cy="2653223"/>
            <a:chOff x="0" y="0"/>
            <a:chExt cx="452627" cy="236479"/>
          </a:xfrm>
        </p:grpSpPr>
        <p:sp>
          <p:nvSpPr>
            <p:cNvPr name="Freeform 12" id="12"/>
            <p:cNvSpPr/>
            <p:nvPr/>
          </p:nvSpPr>
          <p:spPr>
            <a:xfrm flipH="false" flipV="false" rot="0">
              <a:off x="0" y="0"/>
              <a:ext cx="452627" cy="236479"/>
            </a:xfrm>
            <a:custGeom>
              <a:avLst/>
              <a:gdLst/>
              <a:ahLst/>
              <a:cxnLst/>
              <a:rect r="r" b="b" t="t" l="l"/>
              <a:pathLst>
                <a:path h="236479" w="452627">
                  <a:moveTo>
                    <a:pt x="45735" y="0"/>
                  </a:moveTo>
                  <a:lnTo>
                    <a:pt x="406892" y="0"/>
                  </a:lnTo>
                  <a:cubicBezTo>
                    <a:pt x="432150" y="0"/>
                    <a:pt x="452627" y="20476"/>
                    <a:pt x="452627" y="45735"/>
                  </a:cubicBezTo>
                  <a:lnTo>
                    <a:pt x="452627" y="190744"/>
                  </a:lnTo>
                  <a:cubicBezTo>
                    <a:pt x="452627" y="202874"/>
                    <a:pt x="447808" y="214507"/>
                    <a:pt x="439231" y="223084"/>
                  </a:cubicBezTo>
                  <a:cubicBezTo>
                    <a:pt x="430654" y="231661"/>
                    <a:pt x="419021" y="236479"/>
                    <a:pt x="406892" y="236479"/>
                  </a:cubicBezTo>
                  <a:lnTo>
                    <a:pt x="45735" y="236479"/>
                  </a:lnTo>
                  <a:cubicBezTo>
                    <a:pt x="20476" y="236479"/>
                    <a:pt x="0" y="216003"/>
                    <a:pt x="0" y="190744"/>
                  </a:cubicBezTo>
                  <a:lnTo>
                    <a:pt x="0" y="45735"/>
                  </a:lnTo>
                  <a:cubicBezTo>
                    <a:pt x="0" y="20476"/>
                    <a:pt x="20476" y="0"/>
                    <a:pt x="45735" y="0"/>
                  </a:cubicBezTo>
                  <a:close/>
                </a:path>
              </a:pathLst>
            </a:custGeom>
            <a:solidFill>
              <a:srgbClr val="223272"/>
            </a:solidFill>
            <a:ln w="19050" cap="rnd">
              <a:gradFill>
                <a:gsLst>
                  <a:gs pos="0">
                    <a:srgbClr val="FFFFFF">
                      <a:alpha val="50000"/>
                    </a:srgbClr>
                  </a:gs>
                  <a:gs pos="50000">
                    <a:srgbClr val="FFFFFF">
                      <a:alpha val="0"/>
                    </a:srgbClr>
                  </a:gs>
                  <a:gs pos="100000">
                    <a:srgbClr val="FFFFFF">
                      <a:alpha val="50000"/>
                    </a:srgbClr>
                  </a:gs>
                </a:gsLst>
                <a:lin ang="0"/>
              </a:gradFill>
              <a:prstDash val="solid"/>
              <a:round/>
            </a:ln>
          </p:spPr>
        </p:sp>
        <p:sp>
          <p:nvSpPr>
            <p:cNvPr name="TextBox 13" id="13"/>
            <p:cNvSpPr txBox="true"/>
            <p:nvPr/>
          </p:nvSpPr>
          <p:spPr>
            <a:xfrm>
              <a:off x="0" y="38100"/>
              <a:ext cx="452627" cy="198379"/>
            </a:xfrm>
            <a:prstGeom prst="rect">
              <a:avLst/>
            </a:prstGeom>
          </p:spPr>
          <p:txBody>
            <a:bodyPr anchor="ctr" rtlCol="false" tIns="50800" lIns="50800" bIns="50800" rIns="50800"/>
            <a:lstStyle/>
            <a:p>
              <a:pPr algn="just">
                <a:lnSpc>
                  <a:spcPts val="1440"/>
                </a:lnSpc>
              </a:pPr>
            </a:p>
          </p:txBody>
        </p:sp>
      </p:grpSp>
      <p:sp>
        <p:nvSpPr>
          <p:cNvPr name="TextBox 14" id="14"/>
          <p:cNvSpPr txBox="true"/>
          <p:nvPr/>
        </p:nvSpPr>
        <p:spPr>
          <a:xfrm rot="0">
            <a:off x="12938438" y="7587168"/>
            <a:ext cx="4426904" cy="2180559"/>
          </a:xfrm>
          <a:prstGeom prst="rect">
            <a:avLst/>
          </a:prstGeom>
        </p:spPr>
        <p:txBody>
          <a:bodyPr anchor="t" rtlCol="false" tIns="0" lIns="0" bIns="0" rIns="0">
            <a:spAutoFit/>
          </a:bodyPr>
          <a:lstStyle/>
          <a:p>
            <a:pPr algn="just">
              <a:lnSpc>
                <a:spcPts val="1930"/>
              </a:lnSpc>
              <a:spcBef>
                <a:spcPct val="0"/>
              </a:spcBef>
            </a:pPr>
            <a:r>
              <a:rPr lang="en-US" sz="1379">
                <a:solidFill>
                  <a:srgbClr val="FFFFFF"/>
                </a:solidFill>
                <a:latin typeface="Aileron"/>
                <a:ea typeface="Aileron"/>
                <a:cs typeface="Aileron"/>
                <a:sym typeface="Aileron"/>
              </a:rPr>
              <a:t>This diagram illustrates the interactions between system actors — Patient, Counter Staff, and Admin/Doctor — and the available system functions. It shows that patients can register online (as new or returning), view doctor schedules, receive confirmations, and get notified of schedule changes. Counter Staff handles re-registration and data verification at the counter, while Admin/Doctor manages doctor schedules and triggers change notifications to affected patients.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228" t="-35818" r="-11439" b="0"/>
            </a:stretch>
          </a:blipFill>
        </p:spPr>
      </p:sp>
      <p:grpSp>
        <p:nvGrpSpPr>
          <p:cNvPr name="Group 3" id="3"/>
          <p:cNvGrpSpPr/>
          <p:nvPr/>
        </p:nvGrpSpPr>
        <p:grpSpPr>
          <a:xfrm rot="0">
            <a:off x="14672259" y="487399"/>
            <a:ext cx="2799798" cy="1082602"/>
            <a:chOff x="0" y="0"/>
            <a:chExt cx="3733063" cy="1443469"/>
          </a:xfrm>
        </p:grpSpPr>
        <p:sp>
          <p:nvSpPr>
            <p:cNvPr name="Freeform 4" id="4"/>
            <p:cNvSpPr/>
            <p:nvPr/>
          </p:nvSpPr>
          <p:spPr>
            <a:xfrm flipH="false" flipV="false" rot="0">
              <a:off x="0" y="0"/>
              <a:ext cx="3733038" cy="1443482"/>
            </a:xfrm>
            <a:custGeom>
              <a:avLst/>
              <a:gdLst/>
              <a:ahLst/>
              <a:cxnLst/>
              <a:rect r="r" b="b" t="t" l="l"/>
              <a:pathLst>
                <a:path h="1443482" w="3733038">
                  <a:moveTo>
                    <a:pt x="0" y="0"/>
                  </a:moveTo>
                  <a:lnTo>
                    <a:pt x="3733038" y="0"/>
                  </a:lnTo>
                  <a:lnTo>
                    <a:pt x="3733038" y="1443482"/>
                  </a:lnTo>
                  <a:lnTo>
                    <a:pt x="0" y="1443482"/>
                  </a:lnTo>
                  <a:lnTo>
                    <a:pt x="0" y="0"/>
                  </a:lnTo>
                  <a:close/>
                </a:path>
              </a:pathLst>
            </a:custGeom>
            <a:blipFill>
              <a:blip r:embed="rId4"/>
              <a:stretch>
                <a:fillRect l="0" t="0" r="0" b="-193"/>
              </a:stretch>
            </a:blipFill>
          </p:spPr>
        </p:sp>
      </p:grpSp>
      <p:grpSp>
        <p:nvGrpSpPr>
          <p:cNvPr name="Group 5" id="5"/>
          <p:cNvGrpSpPr/>
          <p:nvPr/>
        </p:nvGrpSpPr>
        <p:grpSpPr>
          <a:xfrm rot="5400000">
            <a:off x="12945683" y="6409665"/>
            <a:ext cx="9329765" cy="8948959"/>
            <a:chOff x="0" y="0"/>
            <a:chExt cx="622300" cy="596900"/>
          </a:xfrm>
        </p:grpSpPr>
        <p:sp>
          <p:nvSpPr>
            <p:cNvPr name="Freeform 6" id="6"/>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true">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sp>
        <p:sp>
          <p:nvSpPr>
            <p:cNvPr name="TextBox 7" id="7"/>
            <p:cNvSpPr txBox="true"/>
            <p:nvPr/>
          </p:nvSpPr>
          <p:spPr>
            <a:xfrm>
              <a:off x="0" y="174625"/>
              <a:ext cx="622300" cy="295275"/>
            </a:xfrm>
            <a:prstGeom prst="rect">
              <a:avLst/>
            </a:prstGeom>
          </p:spPr>
          <p:txBody>
            <a:bodyPr anchor="ctr" rtlCol="false" tIns="50800" lIns="50800" bIns="50800" rIns="50800"/>
            <a:lstStyle/>
            <a:p>
              <a:pPr algn="ctr">
                <a:lnSpc>
                  <a:spcPts val="1800"/>
                </a:lnSpc>
              </a:pPr>
            </a:p>
          </p:txBody>
        </p:sp>
      </p:grpSp>
      <p:grpSp>
        <p:nvGrpSpPr>
          <p:cNvPr name="Group 8" id="8"/>
          <p:cNvGrpSpPr/>
          <p:nvPr/>
        </p:nvGrpSpPr>
        <p:grpSpPr>
          <a:xfrm rot="5400000">
            <a:off x="-3987448" y="6409665"/>
            <a:ext cx="9329765" cy="8948959"/>
            <a:chOff x="0" y="0"/>
            <a:chExt cx="622300" cy="596900"/>
          </a:xfrm>
        </p:grpSpPr>
        <p:sp>
          <p:nvSpPr>
            <p:cNvPr name="Freeform 9" id="9"/>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true">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sp>
        <p:sp>
          <p:nvSpPr>
            <p:cNvPr name="TextBox 10" id="10"/>
            <p:cNvSpPr txBox="true"/>
            <p:nvPr/>
          </p:nvSpPr>
          <p:spPr>
            <a:xfrm>
              <a:off x="0" y="174625"/>
              <a:ext cx="622300" cy="295275"/>
            </a:xfrm>
            <a:prstGeom prst="rect">
              <a:avLst/>
            </a:prstGeom>
          </p:spPr>
          <p:txBody>
            <a:bodyPr anchor="ctr" rtlCol="false" tIns="50800" lIns="50800" bIns="50800" rIns="50800"/>
            <a:lstStyle/>
            <a:p>
              <a:pPr algn="ctr">
                <a:lnSpc>
                  <a:spcPts val="1800"/>
                </a:lnSpc>
              </a:pPr>
            </a:p>
          </p:txBody>
        </p:sp>
      </p:grpSp>
      <p:sp>
        <p:nvSpPr>
          <p:cNvPr name="Freeform 11" id="11"/>
          <p:cNvSpPr/>
          <p:nvPr/>
        </p:nvSpPr>
        <p:spPr>
          <a:xfrm flipH="false" flipV="false" rot="0">
            <a:off x="1231029" y="2621897"/>
            <a:ext cx="15825943" cy="6782335"/>
          </a:xfrm>
          <a:custGeom>
            <a:avLst/>
            <a:gdLst/>
            <a:ahLst/>
            <a:cxnLst/>
            <a:rect r="r" b="b" t="t" l="l"/>
            <a:pathLst>
              <a:path h="6782335" w="15825943">
                <a:moveTo>
                  <a:pt x="0" y="0"/>
                </a:moveTo>
                <a:lnTo>
                  <a:pt x="15825942" y="0"/>
                </a:lnTo>
                <a:lnTo>
                  <a:pt x="15825942" y="6782335"/>
                </a:lnTo>
                <a:lnTo>
                  <a:pt x="0" y="6782335"/>
                </a:lnTo>
                <a:lnTo>
                  <a:pt x="0" y="0"/>
                </a:lnTo>
                <a:close/>
              </a:path>
            </a:pathLst>
          </a:custGeom>
          <a:blipFill>
            <a:blip r:embed="rId5"/>
            <a:stretch>
              <a:fillRect l="-883" t="0" r="-5590" b="0"/>
            </a:stretch>
          </a:blipFill>
        </p:spPr>
      </p:sp>
      <p:sp>
        <p:nvSpPr>
          <p:cNvPr name="TextBox 12" id="12"/>
          <p:cNvSpPr txBox="true"/>
          <p:nvPr/>
        </p:nvSpPr>
        <p:spPr>
          <a:xfrm rot="0">
            <a:off x="3760857" y="556777"/>
            <a:ext cx="10766286" cy="1013224"/>
          </a:xfrm>
          <a:prstGeom prst="rect">
            <a:avLst/>
          </a:prstGeom>
        </p:spPr>
        <p:txBody>
          <a:bodyPr anchor="t" rtlCol="false" tIns="0" lIns="0" bIns="0" rIns="0">
            <a:spAutoFit/>
          </a:bodyPr>
          <a:lstStyle/>
          <a:p>
            <a:pPr algn="ctr" marL="0" indent="0" lvl="0">
              <a:lnSpc>
                <a:spcPts val="6006"/>
              </a:lnSpc>
              <a:spcBef>
                <a:spcPct val="0"/>
              </a:spcBef>
            </a:pPr>
            <a:r>
              <a:rPr lang="en-US" b="true" sz="6529" spc="-424">
                <a:solidFill>
                  <a:srgbClr val="FFFFFF"/>
                </a:solidFill>
                <a:latin typeface="Agrandir Bold"/>
                <a:ea typeface="Agrandir Bold"/>
                <a:cs typeface="Agrandir Bold"/>
                <a:sym typeface="Agrandir Bold"/>
              </a:rPr>
              <a:t>DFD 0</a:t>
            </a:r>
          </a:p>
        </p:txBody>
      </p:sp>
      <p:sp>
        <p:nvSpPr>
          <p:cNvPr name="TextBox 13" id="13"/>
          <p:cNvSpPr txBox="true"/>
          <p:nvPr/>
        </p:nvSpPr>
        <p:spPr>
          <a:xfrm rot="0">
            <a:off x="7112843" y="1522376"/>
            <a:ext cx="4062313" cy="349250"/>
          </a:xfrm>
          <a:prstGeom prst="rect">
            <a:avLst/>
          </a:prstGeom>
        </p:spPr>
        <p:txBody>
          <a:bodyPr anchor="t" rtlCol="false" tIns="0" lIns="0" bIns="0" rIns="0">
            <a:spAutoFit/>
          </a:bodyPr>
          <a:lstStyle/>
          <a:p>
            <a:pPr algn="l">
              <a:lnSpc>
                <a:spcPts val="2800"/>
              </a:lnSpc>
            </a:pPr>
            <a:r>
              <a:rPr lang="en-US" sz="2000">
                <a:solidFill>
                  <a:srgbClr val="FFFFFF"/>
                </a:solidFill>
                <a:latin typeface="Aileron"/>
                <a:ea typeface="Aileron"/>
                <a:cs typeface="Aileron"/>
                <a:sym typeface="Aileron"/>
              </a:rPr>
              <a:t>KlinikGo Online Registration System</a:t>
            </a:r>
          </a:p>
        </p:txBody>
      </p:sp>
      <p:grpSp>
        <p:nvGrpSpPr>
          <p:cNvPr name="Group 14" id="14"/>
          <p:cNvGrpSpPr/>
          <p:nvPr/>
        </p:nvGrpSpPr>
        <p:grpSpPr>
          <a:xfrm rot="0">
            <a:off x="12612727" y="7301030"/>
            <a:ext cx="4997839" cy="2611171"/>
            <a:chOff x="0" y="0"/>
            <a:chExt cx="452627" cy="236479"/>
          </a:xfrm>
        </p:grpSpPr>
        <p:sp>
          <p:nvSpPr>
            <p:cNvPr name="Freeform 15" id="15"/>
            <p:cNvSpPr/>
            <p:nvPr/>
          </p:nvSpPr>
          <p:spPr>
            <a:xfrm flipH="false" flipV="false" rot="0">
              <a:off x="0" y="0"/>
              <a:ext cx="452627" cy="236479"/>
            </a:xfrm>
            <a:custGeom>
              <a:avLst/>
              <a:gdLst/>
              <a:ahLst/>
              <a:cxnLst/>
              <a:rect r="r" b="b" t="t" l="l"/>
              <a:pathLst>
                <a:path h="236479" w="452627">
                  <a:moveTo>
                    <a:pt x="46472" y="0"/>
                  </a:moveTo>
                  <a:lnTo>
                    <a:pt x="406155" y="0"/>
                  </a:lnTo>
                  <a:cubicBezTo>
                    <a:pt x="431821" y="0"/>
                    <a:pt x="452627" y="20806"/>
                    <a:pt x="452627" y="46472"/>
                  </a:cubicBezTo>
                  <a:lnTo>
                    <a:pt x="452627" y="190008"/>
                  </a:lnTo>
                  <a:cubicBezTo>
                    <a:pt x="452627" y="215673"/>
                    <a:pt x="431821" y="236479"/>
                    <a:pt x="406155" y="236479"/>
                  </a:cubicBezTo>
                  <a:lnTo>
                    <a:pt x="46472" y="236479"/>
                  </a:lnTo>
                  <a:cubicBezTo>
                    <a:pt x="20806" y="236479"/>
                    <a:pt x="0" y="215673"/>
                    <a:pt x="0" y="190008"/>
                  </a:cubicBezTo>
                  <a:lnTo>
                    <a:pt x="0" y="46472"/>
                  </a:lnTo>
                  <a:cubicBezTo>
                    <a:pt x="0" y="20806"/>
                    <a:pt x="20806" y="0"/>
                    <a:pt x="46472" y="0"/>
                  </a:cubicBezTo>
                  <a:close/>
                </a:path>
              </a:pathLst>
            </a:custGeom>
            <a:solidFill>
              <a:srgbClr val="223272"/>
            </a:solidFill>
            <a:ln w="19050" cap="rnd">
              <a:gradFill>
                <a:gsLst>
                  <a:gs pos="0">
                    <a:srgbClr val="FFFFFF">
                      <a:alpha val="50000"/>
                    </a:srgbClr>
                  </a:gs>
                  <a:gs pos="50000">
                    <a:srgbClr val="FFFFFF">
                      <a:alpha val="0"/>
                    </a:srgbClr>
                  </a:gs>
                  <a:gs pos="100000">
                    <a:srgbClr val="FFFFFF">
                      <a:alpha val="50000"/>
                    </a:srgbClr>
                  </a:gs>
                </a:gsLst>
                <a:lin ang="0"/>
              </a:gradFill>
              <a:prstDash val="solid"/>
              <a:round/>
            </a:ln>
          </p:spPr>
        </p:sp>
        <p:sp>
          <p:nvSpPr>
            <p:cNvPr name="TextBox 16" id="16"/>
            <p:cNvSpPr txBox="true"/>
            <p:nvPr/>
          </p:nvSpPr>
          <p:spPr>
            <a:xfrm>
              <a:off x="0" y="38100"/>
              <a:ext cx="452627" cy="198379"/>
            </a:xfrm>
            <a:prstGeom prst="rect">
              <a:avLst/>
            </a:prstGeom>
          </p:spPr>
          <p:txBody>
            <a:bodyPr anchor="ctr" rtlCol="false" tIns="50800" lIns="50800" bIns="50800" rIns="50800"/>
            <a:lstStyle/>
            <a:p>
              <a:pPr algn="ctr">
                <a:lnSpc>
                  <a:spcPts val="1440"/>
                </a:lnSpc>
              </a:pPr>
            </a:p>
          </p:txBody>
        </p:sp>
      </p:grpSp>
      <p:sp>
        <p:nvSpPr>
          <p:cNvPr name="TextBox 17" id="17"/>
          <p:cNvSpPr txBox="true"/>
          <p:nvPr/>
        </p:nvSpPr>
        <p:spPr>
          <a:xfrm rot="0">
            <a:off x="12913577" y="7511891"/>
            <a:ext cx="4396138" cy="2160875"/>
          </a:xfrm>
          <a:prstGeom prst="rect">
            <a:avLst/>
          </a:prstGeom>
        </p:spPr>
        <p:txBody>
          <a:bodyPr anchor="t" rtlCol="false" tIns="0" lIns="0" bIns="0" rIns="0">
            <a:spAutoFit/>
          </a:bodyPr>
          <a:lstStyle/>
          <a:p>
            <a:pPr algn="just" marL="0" indent="0" lvl="0">
              <a:lnSpc>
                <a:spcPts val="1900"/>
              </a:lnSpc>
              <a:spcBef>
                <a:spcPct val="0"/>
              </a:spcBef>
            </a:pPr>
            <a:r>
              <a:rPr lang="en-US" sz="1357" strike="noStrike" u="none">
                <a:solidFill>
                  <a:srgbClr val="FFFFFF"/>
                </a:solidFill>
                <a:latin typeface="Aileron"/>
                <a:ea typeface="Aileron"/>
                <a:cs typeface="Aileron"/>
                <a:sym typeface="Aileron"/>
              </a:rPr>
              <a:t>Patients input registration data, WhatsApp numbers, doctor preferences, and BPJS numbers, and in return receive registration confirmations, queue numbers, and schedule change notifications via WhatsApp and Email. Counter Staff receives patient data for verification and sends back approvals. The APM Machine exchanges BPJS scan data for returning BPJS patients. Admin/Doctor submits schedule updates and receives notification delivery status from the system.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228" t="-35818" r="-11439" b="0"/>
            </a:stretch>
          </a:blipFill>
        </p:spPr>
      </p:sp>
      <p:grpSp>
        <p:nvGrpSpPr>
          <p:cNvPr name="Group 3" id="3"/>
          <p:cNvGrpSpPr/>
          <p:nvPr/>
        </p:nvGrpSpPr>
        <p:grpSpPr>
          <a:xfrm rot="0">
            <a:off x="14672259" y="487399"/>
            <a:ext cx="2799798" cy="1082602"/>
            <a:chOff x="0" y="0"/>
            <a:chExt cx="3733063" cy="1443469"/>
          </a:xfrm>
        </p:grpSpPr>
        <p:sp>
          <p:nvSpPr>
            <p:cNvPr name="Freeform 4" id="4"/>
            <p:cNvSpPr/>
            <p:nvPr/>
          </p:nvSpPr>
          <p:spPr>
            <a:xfrm flipH="false" flipV="false" rot="0">
              <a:off x="0" y="0"/>
              <a:ext cx="3733038" cy="1443482"/>
            </a:xfrm>
            <a:custGeom>
              <a:avLst/>
              <a:gdLst/>
              <a:ahLst/>
              <a:cxnLst/>
              <a:rect r="r" b="b" t="t" l="l"/>
              <a:pathLst>
                <a:path h="1443482" w="3733038">
                  <a:moveTo>
                    <a:pt x="0" y="0"/>
                  </a:moveTo>
                  <a:lnTo>
                    <a:pt x="3733038" y="0"/>
                  </a:lnTo>
                  <a:lnTo>
                    <a:pt x="3733038" y="1443482"/>
                  </a:lnTo>
                  <a:lnTo>
                    <a:pt x="0" y="1443482"/>
                  </a:lnTo>
                  <a:lnTo>
                    <a:pt x="0" y="0"/>
                  </a:lnTo>
                  <a:close/>
                </a:path>
              </a:pathLst>
            </a:custGeom>
            <a:blipFill>
              <a:blip r:embed="rId4"/>
              <a:stretch>
                <a:fillRect l="0" t="0" r="0" b="-193"/>
              </a:stretch>
            </a:blipFill>
          </p:spPr>
        </p:sp>
      </p:grpSp>
      <p:grpSp>
        <p:nvGrpSpPr>
          <p:cNvPr name="Group 5" id="5"/>
          <p:cNvGrpSpPr/>
          <p:nvPr/>
        </p:nvGrpSpPr>
        <p:grpSpPr>
          <a:xfrm rot="5400000">
            <a:off x="12945683" y="6409665"/>
            <a:ext cx="9329765" cy="8948959"/>
            <a:chOff x="0" y="0"/>
            <a:chExt cx="622300" cy="596900"/>
          </a:xfrm>
        </p:grpSpPr>
        <p:sp>
          <p:nvSpPr>
            <p:cNvPr name="Freeform 6" id="6"/>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true">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sp>
        <p:sp>
          <p:nvSpPr>
            <p:cNvPr name="TextBox 7" id="7"/>
            <p:cNvSpPr txBox="true"/>
            <p:nvPr/>
          </p:nvSpPr>
          <p:spPr>
            <a:xfrm>
              <a:off x="0" y="174625"/>
              <a:ext cx="622300" cy="295275"/>
            </a:xfrm>
            <a:prstGeom prst="rect">
              <a:avLst/>
            </a:prstGeom>
          </p:spPr>
          <p:txBody>
            <a:bodyPr anchor="ctr" rtlCol="false" tIns="50800" lIns="50800" bIns="50800" rIns="50800"/>
            <a:lstStyle/>
            <a:p>
              <a:pPr algn="ctr">
                <a:lnSpc>
                  <a:spcPts val="1800"/>
                </a:lnSpc>
              </a:pPr>
            </a:p>
          </p:txBody>
        </p:sp>
      </p:grpSp>
      <p:grpSp>
        <p:nvGrpSpPr>
          <p:cNvPr name="Group 8" id="8"/>
          <p:cNvGrpSpPr/>
          <p:nvPr/>
        </p:nvGrpSpPr>
        <p:grpSpPr>
          <a:xfrm rot="5400000">
            <a:off x="-3987448" y="6409665"/>
            <a:ext cx="9329765" cy="8948959"/>
            <a:chOff x="0" y="0"/>
            <a:chExt cx="622300" cy="596900"/>
          </a:xfrm>
        </p:grpSpPr>
        <p:sp>
          <p:nvSpPr>
            <p:cNvPr name="Freeform 9" id="9"/>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true">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sp>
        <p:sp>
          <p:nvSpPr>
            <p:cNvPr name="TextBox 10" id="10"/>
            <p:cNvSpPr txBox="true"/>
            <p:nvPr/>
          </p:nvSpPr>
          <p:spPr>
            <a:xfrm>
              <a:off x="0" y="174625"/>
              <a:ext cx="622300" cy="295275"/>
            </a:xfrm>
            <a:prstGeom prst="rect">
              <a:avLst/>
            </a:prstGeom>
          </p:spPr>
          <p:txBody>
            <a:bodyPr anchor="ctr" rtlCol="false" tIns="50800" lIns="50800" bIns="50800" rIns="50800"/>
            <a:lstStyle/>
            <a:p>
              <a:pPr algn="ctr">
                <a:lnSpc>
                  <a:spcPts val="1800"/>
                </a:lnSpc>
              </a:pPr>
            </a:p>
          </p:txBody>
        </p:sp>
      </p:grpSp>
      <p:sp>
        <p:nvSpPr>
          <p:cNvPr name="Freeform 11" id="11"/>
          <p:cNvSpPr/>
          <p:nvPr/>
        </p:nvSpPr>
        <p:spPr>
          <a:xfrm flipH="false" flipV="false" rot="0">
            <a:off x="3887271" y="2093798"/>
            <a:ext cx="10513458" cy="7845668"/>
          </a:xfrm>
          <a:custGeom>
            <a:avLst/>
            <a:gdLst/>
            <a:ahLst/>
            <a:cxnLst/>
            <a:rect r="r" b="b" t="t" l="l"/>
            <a:pathLst>
              <a:path h="7845668" w="10513458">
                <a:moveTo>
                  <a:pt x="0" y="0"/>
                </a:moveTo>
                <a:lnTo>
                  <a:pt x="10513458" y="0"/>
                </a:lnTo>
                <a:lnTo>
                  <a:pt x="10513458" y="7845668"/>
                </a:lnTo>
                <a:lnTo>
                  <a:pt x="0" y="7845668"/>
                </a:lnTo>
                <a:lnTo>
                  <a:pt x="0" y="0"/>
                </a:lnTo>
                <a:close/>
              </a:path>
            </a:pathLst>
          </a:custGeom>
          <a:blipFill>
            <a:blip r:embed="rId5"/>
            <a:stretch>
              <a:fillRect l="0" t="0" r="0" b="0"/>
            </a:stretch>
          </a:blipFill>
        </p:spPr>
      </p:sp>
      <p:sp>
        <p:nvSpPr>
          <p:cNvPr name="TextBox 12" id="12"/>
          <p:cNvSpPr txBox="true"/>
          <p:nvPr/>
        </p:nvSpPr>
        <p:spPr>
          <a:xfrm rot="0">
            <a:off x="3760857" y="556777"/>
            <a:ext cx="10766286" cy="1013224"/>
          </a:xfrm>
          <a:prstGeom prst="rect">
            <a:avLst/>
          </a:prstGeom>
        </p:spPr>
        <p:txBody>
          <a:bodyPr anchor="t" rtlCol="false" tIns="0" lIns="0" bIns="0" rIns="0">
            <a:spAutoFit/>
          </a:bodyPr>
          <a:lstStyle/>
          <a:p>
            <a:pPr algn="ctr" marL="0" indent="0" lvl="0">
              <a:lnSpc>
                <a:spcPts val="6006"/>
              </a:lnSpc>
              <a:spcBef>
                <a:spcPct val="0"/>
              </a:spcBef>
            </a:pPr>
            <a:r>
              <a:rPr lang="en-US" b="true" sz="6529" spc="-424" strike="noStrike" u="none">
                <a:solidFill>
                  <a:srgbClr val="FFFFFF"/>
                </a:solidFill>
                <a:latin typeface="Agrandir Bold"/>
                <a:ea typeface="Agrandir Bold"/>
                <a:cs typeface="Agrandir Bold"/>
                <a:sym typeface="Agrandir Bold"/>
              </a:rPr>
              <a:t>Usecase Diagram</a:t>
            </a:r>
          </a:p>
        </p:txBody>
      </p:sp>
      <p:sp>
        <p:nvSpPr>
          <p:cNvPr name="TextBox 13" id="13"/>
          <p:cNvSpPr txBox="true"/>
          <p:nvPr/>
        </p:nvSpPr>
        <p:spPr>
          <a:xfrm rot="0">
            <a:off x="7112843" y="1522376"/>
            <a:ext cx="4062313" cy="349250"/>
          </a:xfrm>
          <a:prstGeom prst="rect">
            <a:avLst/>
          </a:prstGeom>
        </p:spPr>
        <p:txBody>
          <a:bodyPr anchor="t" rtlCol="false" tIns="0" lIns="0" bIns="0" rIns="0">
            <a:spAutoFit/>
          </a:bodyPr>
          <a:lstStyle/>
          <a:p>
            <a:pPr algn="l">
              <a:lnSpc>
                <a:spcPts val="2800"/>
              </a:lnSpc>
            </a:pPr>
            <a:r>
              <a:rPr lang="en-US" sz="2000">
                <a:solidFill>
                  <a:srgbClr val="FFFFFF"/>
                </a:solidFill>
                <a:latin typeface="Aileron"/>
                <a:ea typeface="Aileron"/>
                <a:cs typeface="Aileron"/>
                <a:sym typeface="Aileron"/>
              </a:rPr>
              <a:t>KlinikGo Online Registration System</a:t>
            </a:r>
          </a:p>
        </p:txBody>
      </p:sp>
      <p:grpSp>
        <p:nvGrpSpPr>
          <p:cNvPr name="Group 14" id="14"/>
          <p:cNvGrpSpPr/>
          <p:nvPr/>
        </p:nvGrpSpPr>
        <p:grpSpPr>
          <a:xfrm rot="0">
            <a:off x="14672259" y="3427851"/>
            <a:ext cx="3233772" cy="5177563"/>
            <a:chOff x="0" y="0"/>
            <a:chExt cx="336473" cy="538724"/>
          </a:xfrm>
        </p:grpSpPr>
        <p:sp>
          <p:nvSpPr>
            <p:cNvPr name="Freeform 15" id="15"/>
            <p:cNvSpPr/>
            <p:nvPr/>
          </p:nvSpPr>
          <p:spPr>
            <a:xfrm flipH="false" flipV="false" rot="0">
              <a:off x="0" y="0"/>
              <a:ext cx="336473" cy="538724"/>
            </a:xfrm>
            <a:custGeom>
              <a:avLst/>
              <a:gdLst/>
              <a:ahLst/>
              <a:cxnLst/>
              <a:rect r="r" b="b" t="t" l="l"/>
              <a:pathLst>
                <a:path h="538724" w="336473">
                  <a:moveTo>
                    <a:pt x="71822" y="0"/>
                  </a:moveTo>
                  <a:lnTo>
                    <a:pt x="264651" y="0"/>
                  </a:lnTo>
                  <a:cubicBezTo>
                    <a:pt x="304317" y="0"/>
                    <a:pt x="336473" y="32156"/>
                    <a:pt x="336473" y="71822"/>
                  </a:cubicBezTo>
                  <a:lnTo>
                    <a:pt x="336473" y="466901"/>
                  </a:lnTo>
                  <a:cubicBezTo>
                    <a:pt x="336473" y="506568"/>
                    <a:pt x="304317" y="538724"/>
                    <a:pt x="264651" y="538724"/>
                  </a:cubicBezTo>
                  <a:lnTo>
                    <a:pt x="71822" y="538724"/>
                  </a:lnTo>
                  <a:cubicBezTo>
                    <a:pt x="32156" y="538724"/>
                    <a:pt x="0" y="506568"/>
                    <a:pt x="0" y="466901"/>
                  </a:cubicBezTo>
                  <a:lnTo>
                    <a:pt x="0" y="71822"/>
                  </a:lnTo>
                  <a:cubicBezTo>
                    <a:pt x="0" y="32156"/>
                    <a:pt x="32156" y="0"/>
                    <a:pt x="71822" y="0"/>
                  </a:cubicBezTo>
                  <a:close/>
                </a:path>
              </a:pathLst>
            </a:custGeom>
            <a:solidFill>
              <a:srgbClr val="223272"/>
            </a:solidFill>
            <a:ln w="19050" cap="rnd">
              <a:gradFill>
                <a:gsLst>
                  <a:gs pos="0">
                    <a:srgbClr val="FFFFFF">
                      <a:alpha val="50000"/>
                    </a:srgbClr>
                  </a:gs>
                  <a:gs pos="50000">
                    <a:srgbClr val="FFFFFF">
                      <a:alpha val="0"/>
                    </a:srgbClr>
                  </a:gs>
                  <a:gs pos="100000">
                    <a:srgbClr val="FFFFFF">
                      <a:alpha val="50000"/>
                    </a:srgbClr>
                  </a:gs>
                </a:gsLst>
                <a:lin ang="0"/>
              </a:gradFill>
              <a:prstDash val="solid"/>
              <a:round/>
            </a:ln>
          </p:spPr>
        </p:sp>
        <p:sp>
          <p:nvSpPr>
            <p:cNvPr name="TextBox 16" id="16"/>
            <p:cNvSpPr txBox="true"/>
            <p:nvPr/>
          </p:nvSpPr>
          <p:spPr>
            <a:xfrm>
              <a:off x="0" y="38100"/>
              <a:ext cx="336473" cy="500624"/>
            </a:xfrm>
            <a:prstGeom prst="rect">
              <a:avLst/>
            </a:prstGeom>
          </p:spPr>
          <p:txBody>
            <a:bodyPr anchor="ctr" rtlCol="false" tIns="50800" lIns="50800" bIns="50800" rIns="50800"/>
            <a:lstStyle/>
            <a:p>
              <a:pPr algn="ctr">
                <a:lnSpc>
                  <a:spcPts val="1440"/>
                </a:lnSpc>
              </a:pPr>
            </a:p>
          </p:txBody>
        </p:sp>
      </p:grpSp>
      <p:sp>
        <p:nvSpPr>
          <p:cNvPr name="TextBox 17" id="17"/>
          <p:cNvSpPr txBox="true"/>
          <p:nvPr/>
        </p:nvSpPr>
        <p:spPr>
          <a:xfrm rot="0">
            <a:off x="14860697" y="3864345"/>
            <a:ext cx="2856896" cy="4285524"/>
          </a:xfrm>
          <a:prstGeom prst="rect">
            <a:avLst/>
          </a:prstGeom>
        </p:spPr>
        <p:txBody>
          <a:bodyPr anchor="t" rtlCol="false" tIns="0" lIns="0" bIns="0" rIns="0">
            <a:spAutoFit/>
          </a:bodyPr>
          <a:lstStyle/>
          <a:p>
            <a:pPr algn="just" marL="0" indent="0" lvl="0">
              <a:lnSpc>
                <a:spcPts val="1885"/>
              </a:lnSpc>
              <a:spcBef>
                <a:spcPct val="0"/>
              </a:spcBef>
            </a:pPr>
            <a:r>
              <a:rPr lang="en-US" sz="1346" strike="noStrike" u="none">
                <a:solidFill>
                  <a:srgbClr val="FFFFFF"/>
                </a:solidFill>
                <a:latin typeface="Aileron"/>
                <a:ea typeface="Aileron"/>
                <a:cs typeface="Aileron"/>
                <a:sym typeface="Aileron"/>
              </a:rPr>
              <a:t>This diagram provides a high-level overview of data flows between the KlinikGo Online Registration System and all external entities. Patients input registration data, WhatsApp numbers, doctor preferences, and BPJS numbers, and in return receive registration confirmations, queue numbers, and schedule change notifications via WhatsApp and Email. Counter Staff receives patient data for verification and sends back approvals. The APM Machine exchanges BPJS scan data for returning BPJS patients. Admin/Doctor submits schedule updates and receives notification delivery status from the system.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228" t="-35818" r="-11439" b="0"/>
            </a:stretch>
          </a:blipFill>
        </p:spPr>
      </p:sp>
      <p:grpSp>
        <p:nvGrpSpPr>
          <p:cNvPr name="Group 3" id="3"/>
          <p:cNvGrpSpPr/>
          <p:nvPr/>
        </p:nvGrpSpPr>
        <p:grpSpPr>
          <a:xfrm rot="0">
            <a:off x="14672259" y="487399"/>
            <a:ext cx="2799798" cy="1082602"/>
            <a:chOff x="0" y="0"/>
            <a:chExt cx="3733063" cy="1443469"/>
          </a:xfrm>
        </p:grpSpPr>
        <p:sp>
          <p:nvSpPr>
            <p:cNvPr name="Freeform 4" id="4"/>
            <p:cNvSpPr/>
            <p:nvPr/>
          </p:nvSpPr>
          <p:spPr>
            <a:xfrm flipH="false" flipV="false" rot="0">
              <a:off x="0" y="0"/>
              <a:ext cx="3733038" cy="1443482"/>
            </a:xfrm>
            <a:custGeom>
              <a:avLst/>
              <a:gdLst/>
              <a:ahLst/>
              <a:cxnLst/>
              <a:rect r="r" b="b" t="t" l="l"/>
              <a:pathLst>
                <a:path h="1443482" w="3733038">
                  <a:moveTo>
                    <a:pt x="0" y="0"/>
                  </a:moveTo>
                  <a:lnTo>
                    <a:pt x="3733038" y="0"/>
                  </a:lnTo>
                  <a:lnTo>
                    <a:pt x="3733038" y="1443482"/>
                  </a:lnTo>
                  <a:lnTo>
                    <a:pt x="0" y="1443482"/>
                  </a:lnTo>
                  <a:lnTo>
                    <a:pt x="0" y="0"/>
                  </a:lnTo>
                  <a:close/>
                </a:path>
              </a:pathLst>
            </a:custGeom>
            <a:blipFill>
              <a:blip r:embed="rId4"/>
              <a:stretch>
                <a:fillRect l="0" t="0" r="0" b="-193"/>
              </a:stretch>
            </a:blipFill>
          </p:spPr>
        </p:sp>
      </p:grpSp>
      <p:grpSp>
        <p:nvGrpSpPr>
          <p:cNvPr name="Group 5" id="5"/>
          <p:cNvGrpSpPr/>
          <p:nvPr/>
        </p:nvGrpSpPr>
        <p:grpSpPr>
          <a:xfrm rot="5400000">
            <a:off x="12945683" y="6409665"/>
            <a:ext cx="9329765" cy="8948959"/>
            <a:chOff x="0" y="0"/>
            <a:chExt cx="622300" cy="596900"/>
          </a:xfrm>
        </p:grpSpPr>
        <p:sp>
          <p:nvSpPr>
            <p:cNvPr name="Freeform 6" id="6"/>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true">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sp>
        <p:sp>
          <p:nvSpPr>
            <p:cNvPr name="TextBox 7" id="7"/>
            <p:cNvSpPr txBox="true"/>
            <p:nvPr/>
          </p:nvSpPr>
          <p:spPr>
            <a:xfrm>
              <a:off x="0" y="174625"/>
              <a:ext cx="622300" cy="295275"/>
            </a:xfrm>
            <a:prstGeom prst="rect">
              <a:avLst/>
            </a:prstGeom>
          </p:spPr>
          <p:txBody>
            <a:bodyPr anchor="ctr" rtlCol="false" tIns="50800" lIns="50800" bIns="50800" rIns="50800"/>
            <a:lstStyle/>
            <a:p>
              <a:pPr algn="ctr">
                <a:lnSpc>
                  <a:spcPts val="1800"/>
                </a:lnSpc>
              </a:pPr>
            </a:p>
          </p:txBody>
        </p:sp>
      </p:grpSp>
      <p:grpSp>
        <p:nvGrpSpPr>
          <p:cNvPr name="Group 8" id="8"/>
          <p:cNvGrpSpPr/>
          <p:nvPr/>
        </p:nvGrpSpPr>
        <p:grpSpPr>
          <a:xfrm rot="5400000">
            <a:off x="-3987448" y="6409665"/>
            <a:ext cx="9329765" cy="8948959"/>
            <a:chOff x="0" y="0"/>
            <a:chExt cx="622300" cy="596900"/>
          </a:xfrm>
        </p:grpSpPr>
        <p:sp>
          <p:nvSpPr>
            <p:cNvPr name="Freeform 9" id="9"/>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true">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sp>
        <p:sp>
          <p:nvSpPr>
            <p:cNvPr name="TextBox 10" id="10"/>
            <p:cNvSpPr txBox="true"/>
            <p:nvPr/>
          </p:nvSpPr>
          <p:spPr>
            <a:xfrm>
              <a:off x="0" y="174625"/>
              <a:ext cx="622300" cy="295275"/>
            </a:xfrm>
            <a:prstGeom prst="rect">
              <a:avLst/>
            </a:prstGeom>
          </p:spPr>
          <p:txBody>
            <a:bodyPr anchor="ctr" rtlCol="false" tIns="50800" lIns="50800" bIns="50800" rIns="50800"/>
            <a:lstStyle/>
            <a:p>
              <a:pPr algn="ctr">
                <a:lnSpc>
                  <a:spcPts val="1800"/>
                </a:lnSpc>
              </a:pPr>
            </a:p>
          </p:txBody>
        </p:sp>
      </p:grpSp>
      <p:sp>
        <p:nvSpPr>
          <p:cNvPr name="Freeform 11" id="11"/>
          <p:cNvSpPr/>
          <p:nvPr/>
        </p:nvSpPr>
        <p:spPr>
          <a:xfrm flipH="false" flipV="false" rot="0">
            <a:off x="6247512" y="2026403"/>
            <a:ext cx="5792976" cy="8080916"/>
          </a:xfrm>
          <a:custGeom>
            <a:avLst/>
            <a:gdLst/>
            <a:ahLst/>
            <a:cxnLst/>
            <a:rect r="r" b="b" t="t" l="l"/>
            <a:pathLst>
              <a:path h="8080916" w="5792976">
                <a:moveTo>
                  <a:pt x="0" y="0"/>
                </a:moveTo>
                <a:lnTo>
                  <a:pt x="5792976" y="0"/>
                </a:lnTo>
                <a:lnTo>
                  <a:pt x="5792976" y="8080916"/>
                </a:lnTo>
                <a:lnTo>
                  <a:pt x="0" y="8080916"/>
                </a:lnTo>
                <a:lnTo>
                  <a:pt x="0" y="0"/>
                </a:lnTo>
                <a:close/>
              </a:path>
            </a:pathLst>
          </a:custGeom>
          <a:blipFill>
            <a:blip r:embed="rId5"/>
            <a:stretch>
              <a:fillRect l="0" t="0" r="0" b="-8411"/>
            </a:stretch>
          </a:blipFill>
        </p:spPr>
      </p:sp>
      <p:sp>
        <p:nvSpPr>
          <p:cNvPr name="TextBox 12" id="12"/>
          <p:cNvSpPr txBox="true"/>
          <p:nvPr/>
        </p:nvSpPr>
        <p:spPr>
          <a:xfrm rot="0">
            <a:off x="3760857" y="556777"/>
            <a:ext cx="10766286" cy="1013224"/>
          </a:xfrm>
          <a:prstGeom prst="rect">
            <a:avLst/>
          </a:prstGeom>
        </p:spPr>
        <p:txBody>
          <a:bodyPr anchor="t" rtlCol="false" tIns="0" lIns="0" bIns="0" rIns="0">
            <a:spAutoFit/>
          </a:bodyPr>
          <a:lstStyle/>
          <a:p>
            <a:pPr algn="ctr" marL="0" indent="0" lvl="0">
              <a:lnSpc>
                <a:spcPts val="6006"/>
              </a:lnSpc>
              <a:spcBef>
                <a:spcPct val="0"/>
              </a:spcBef>
            </a:pPr>
            <a:r>
              <a:rPr lang="en-US" b="true" sz="6529" spc="-424">
                <a:solidFill>
                  <a:srgbClr val="FFFFFF"/>
                </a:solidFill>
                <a:latin typeface="Agrandir Bold"/>
                <a:ea typeface="Agrandir Bold"/>
                <a:cs typeface="Agrandir Bold"/>
                <a:sym typeface="Agrandir Bold"/>
              </a:rPr>
              <a:t>Activity Diagram</a:t>
            </a:r>
          </a:p>
        </p:txBody>
      </p:sp>
      <p:sp>
        <p:nvSpPr>
          <p:cNvPr name="TextBox 13" id="13"/>
          <p:cNvSpPr txBox="true"/>
          <p:nvPr/>
        </p:nvSpPr>
        <p:spPr>
          <a:xfrm rot="0">
            <a:off x="7112843" y="1522376"/>
            <a:ext cx="4062313" cy="349250"/>
          </a:xfrm>
          <a:prstGeom prst="rect">
            <a:avLst/>
          </a:prstGeom>
        </p:spPr>
        <p:txBody>
          <a:bodyPr anchor="t" rtlCol="false" tIns="0" lIns="0" bIns="0" rIns="0">
            <a:spAutoFit/>
          </a:bodyPr>
          <a:lstStyle/>
          <a:p>
            <a:pPr algn="l">
              <a:lnSpc>
                <a:spcPts val="2800"/>
              </a:lnSpc>
            </a:pPr>
            <a:r>
              <a:rPr lang="en-US" sz="2000">
                <a:solidFill>
                  <a:srgbClr val="FFFFFF"/>
                </a:solidFill>
                <a:latin typeface="Aileron"/>
                <a:ea typeface="Aileron"/>
                <a:cs typeface="Aileron"/>
                <a:sym typeface="Aileron"/>
              </a:rPr>
              <a:t>KlinikGo Online Registration System</a:t>
            </a:r>
          </a:p>
        </p:txBody>
      </p:sp>
      <p:grpSp>
        <p:nvGrpSpPr>
          <p:cNvPr name="Group 14" id="14"/>
          <p:cNvGrpSpPr/>
          <p:nvPr/>
        </p:nvGrpSpPr>
        <p:grpSpPr>
          <a:xfrm rot="0">
            <a:off x="12442816" y="3966141"/>
            <a:ext cx="5452634" cy="3037946"/>
            <a:chOff x="0" y="0"/>
            <a:chExt cx="567345" cy="316097"/>
          </a:xfrm>
        </p:grpSpPr>
        <p:sp>
          <p:nvSpPr>
            <p:cNvPr name="Freeform 15" id="15"/>
            <p:cNvSpPr/>
            <p:nvPr/>
          </p:nvSpPr>
          <p:spPr>
            <a:xfrm flipH="false" flipV="false" rot="0">
              <a:off x="0" y="0"/>
              <a:ext cx="567345" cy="316097"/>
            </a:xfrm>
            <a:custGeom>
              <a:avLst/>
              <a:gdLst/>
              <a:ahLst/>
              <a:cxnLst/>
              <a:rect r="r" b="b" t="t" l="l"/>
              <a:pathLst>
                <a:path h="316097" w="567345">
                  <a:moveTo>
                    <a:pt x="42595" y="0"/>
                  </a:moveTo>
                  <a:lnTo>
                    <a:pt x="524750" y="0"/>
                  </a:lnTo>
                  <a:cubicBezTo>
                    <a:pt x="536046" y="0"/>
                    <a:pt x="546881" y="4488"/>
                    <a:pt x="554869" y="12476"/>
                  </a:cubicBezTo>
                  <a:cubicBezTo>
                    <a:pt x="562857" y="20464"/>
                    <a:pt x="567345" y="31298"/>
                    <a:pt x="567345" y="42595"/>
                  </a:cubicBezTo>
                  <a:lnTo>
                    <a:pt x="567345" y="273502"/>
                  </a:lnTo>
                  <a:cubicBezTo>
                    <a:pt x="567345" y="297027"/>
                    <a:pt x="548274" y="316097"/>
                    <a:pt x="524750" y="316097"/>
                  </a:cubicBezTo>
                  <a:lnTo>
                    <a:pt x="42595" y="316097"/>
                  </a:lnTo>
                  <a:cubicBezTo>
                    <a:pt x="31298" y="316097"/>
                    <a:pt x="20464" y="311610"/>
                    <a:pt x="12476" y="303621"/>
                  </a:cubicBezTo>
                  <a:cubicBezTo>
                    <a:pt x="4488" y="295633"/>
                    <a:pt x="0" y="284799"/>
                    <a:pt x="0" y="273502"/>
                  </a:cubicBezTo>
                  <a:lnTo>
                    <a:pt x="0" y="42595"/>
                  </a:lnTo>
                  <a:cubicBezTo>
                    <a:pt x="0" y="31298"/>
                    <a:pt x="4488" y="20464"/>
                    <a:pt x="12476" y="12476"/>
                  </a:cubicBezTo>
                  <a:cubicBezTo>
                    <a:pt x="20464" y="4488"/>
                    <a:pt x="31298" y="0"/>
                    <a:pt x="42595" y="0"/>
                  </a:cubicBezTo>
                  <a:close/>
                </a:path>
              </a:pathLst>
            </a:custGeom>
            <a:solidFill>
              <a:srgbClr val="223272"/>
            </a:solidFill>
            <a:ln w="19050" cap="rnd">
              <a:gradFill>
                <a:gsLst>
                  <a:gs pos="0">
                    <a:srgbClr val="FFFFFF">
                      <a:alpha val="50000"/>
                    </a:srgbClr>
                  </a:gs>
                  <a:gs pos="50000">
                    <a:srgbClr val="FFFFFF">
                      <a:alpha val="0"/>
                    </a:srgbClr>
                  </a:gs>
                  <a:gs pos="100000">
                    <a:srgbClr val="FFFFFF">
                      <a:alpha val="50000"/>
                    </a:srgbClr>
                  </a:gs>
                </a:gsLst>
                <a:lin ang="0"/>
              </a:gradFill>
              <a:prstDash val="solid"/>
              <a:round/>
            </a:ln>
          </p:spPr>
        </p:sp>
        <p:sp>
          <p:nvSpPr>
            <p:cNvPr name="TextBox 16" id="16"/>
            <p:cNvSpPr txBox="true"/>
            <p:nvPr/>
          </p:nvSpPr>
          <p:spPr>
            <a:xfrm>
              <a:off x="0" y="38100"/>
              <a:ext cx="567345" cy="277997"/>
            </a:xfrm>
            <a:prstGeom prst="rect">
              <a:avLst/>
            </a:prstGeom>
          </p:spPr>
          <p:txBody>
            <a:bodyPr anchor="ctr" rtlCol="false" tIns="50800" lIns="50800" bIns="50800" rIns="50800"/>
            <a:lstStyle/>
            <a:p>
              <a:pPr algn="ctr">
                <a:lnSpc>
                  <a:spcPts val="1440"/>
                </a:lnSpc>
              </a:pPr>
            </a:p>
          </p:txBody>
        </p:sp>
      </p:grpSp>
      <p:sp>
        <p:nvSpPr>
          <p:cNvPr name="TextBox 17" id="17"/>
          <p:cNvSpPr txBox="true"/>
          <p:nvPr/>
        </p:nvSpPr>
        <p:spPr>
          <a:xfrm rot="0">
            <a:off x="12805418" y="4427390"/>
            <a:ext cx="4719422" cy="2127964"/>
          </a:xfrm>
          <a:prstGeom prst="rect">
            <a:avLst/>
          </a:prstGeom>
        </p:spPr>
        <p:txBody>
          <a:bodyPr anchor="t" rtlCol="false" tIns="0" lIns="0" bIns="0" rIns="0">
            <a:spAutoFit/>
          </a:bodyPr>
          <a:lstStyle/>
          <a:p>
            <a:pPr algn="just" marL="0" indent="0" lvl="0">
              <a:lnSpc>
                <a:spcPts val="1885"/>
              </a:lnSpc>
              <a:spcBef>
                <a:spcPct val="0"/>
              </a:spcBef>
            </a:pPr>
            <a:r>
              <a:rPr lang="en-US" sz="1346" strike="noStrike" u="none">
                <a:solidFill>
                  <a:srgbClr val="FFFFFF"/>
                </a:solidFill>
                <a:latin typeface="Aileron"/>
                <a:ea typeface="Aileron"/>
                <a:cs typeface="Aileron"/>
                <a:sym typeface="Aileron"/>
              </a:rPr>
              <a:t>This diagram maps the detailed actions of all six parties involved — New Patient, Returning Patient, System, Counter Staff, APM Machine, and Admin/Doctor — using swimlanes. It captures the complete end-to-end process: from form submission and data validation, to schedule availability checking, confirmation sending, and clinic-day re-registration. It clearly shows the split between BPJS returning patients (APM lane) and other patients (Counter lane), and highlights that queue numbers follow online registration order.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228" t="-35818" r="-11439" b="0"/>
            </a:stretch>
          </a:blipFill>
        </p:spPr>
      </p:sp>
      <p:grpSp>
        <p:nvGrpSpPr>
          <p:cNvPr name="Group 3" id="3"/>
          <p:cNvGrpSpPr/>
          <p:nvPr/>
        </p:nvGrpSpPr>
        <p:grpSpPr>
          <a:xfrm rot="0">
            <a:off x="14672259" y="487399"/>
            <a:ext cx="2799798" cy="1082602"/>
            <a:chOff x="0" y="0"/>
            <a:chExt cx="3733063" cy="1443469"/>
          </a:xfrm>
        </p:grpSpPr>
        <p:sp>
          <p:nvSpPr>
            <p:cNvPr name="Freeform 4" id="4"/>
            <p:cNvSpPr/>
            <p:nvPr/>
          </p:nvSpPr>
          <p:spPr>
            <a:xfrm flipH="false" flipV="false" rot="0">
              <a:off x="0" y="0"/>
              <a:ext cx="3733038" cy="1443482"/>
            </a:xfrm>
            <a:custGeom>
              <a:avLst/>
              <a:gdLst/>
              <a:ahLst/>
              <a:cxnLst/>
              <a:rect r="r" b="b" t="t" l="l"/>
              <a:pathLst>
                <a:path h="1443482" w="3733038">
                  <a:moveTo>
                    <a:pt x="0" y="0"/>
                  </a:moveTo>
                  <a:lnTo>
                    <a:pt x="3733038" y="0"/>
                  </a:lnTo>
                  <a:lnTo>
                    <a:pt x="3733038" y="1443482"/>
                  </a:lnTo>
                  <a:lnTo>
                    <a:pt x="0" y="1443482"/>
                  </a:lnTo>
                  <a:lnTo>
                    <a:pt x="0" y="0"/>
                  </a:lnTo>
                  <a:close/>
                </a:path>
              </a:pathLst>
            </a:custGeom>
            <a:blipFill>
              <a:blip r:embed="rId4"/>
              <a:stretch>
                <a:fillRect l="0" t="0" r="0" b="-193"/>
              </a:stretch>
            </a:blipFill>
          </p:spPr>
        </p:sp>
      </p:grpSp>
      <p:grpSp>
        <p:nvGrpSpPr>
          <p:cNvPr name="Group 5" id="5"/>
          <p:cNvGrpSpPr/>
          <p:nvPr/>
        </p:nvGrpSpPr>
        <p:grpSpPr>
          <a:xfrm rot="5400000">
            <a:off x="13096033" y="6409665"/>
            <a:ext cx="9329765" cy="8948959"/>
            <a:chOff x="0" y="0"/>
            <a:chExt cx="622300" cy="596900"/>
          </a:xfrm>
        </p:grpSpPr>
        <p:sp>
          <p:nvSpPr>
            <p:cNvPr name="Freeform 6" id="6"/>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true">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sp>
        <p:sp>
          <p:nvSpPr>
            <p:cNvPr name="TextBox 7" id="7"/>
            <p:cNvSpPr txBox="true"/>
            <p:nvPr/>
          </p:nvSpPr>
          <p:spPr>
            <a:xfrm>
              <a:off x="0" y="174625"/>
              <a:ext cx="622300" cy="295275"/>
            </a:xfrm>
            <a:prstGeom prst="rect">
              <a:avLst/>
            </a:prstGeom>
          </p:spPr>
          <p:txBody>
            <a:bodyPr anchor="ctr" rtlCol="false" tIns="50800" lIns="50800" bIns="50800" rIns="50800"/>
            <a:lstStyle/>
            <a:p>
              <a:pPr algn="ctr">
                <a:lnSpc>
                  <a:spcPts val="1800"/>
                </a:lnSpc>
              </a:pPr>
            </a:p>
          </p:txBody>
        </p:sp>
      </p:grpSp>
      <p:grpSp>
        <p:nvGrpSpPr>
          <p:cNvPr name="Group 8" id="8"/>
          <p:cNvGrpSpPr/>
          <p:nvPr/>
        </p:nvGrpSpPr>
        <p:grpSpPr>
          <a:xfrm rot="5400000">
            <a:off x="-3987448" y="6409665"/>
            <a:ext cx="9329765" cy="8948959"/>
            <a:chOff x="0" y="0"/>
            <a:chExt cx="622300" cy="596900"/>
          </a:xfrm>
        </p:grpSpPr>
        <p:sp>
          <p:nvSpPr>
            <p:cNvPr name="Freeform 9" id="9"/>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true">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sp>
        <p:sp>
          <p:nvSpPr>
            <p:cNvPr name="TextBox 10" id="10"/>
            <p:cNvSpPr txBox="true"/>
            <p:nvPr/>
          </p:nvSpPr>
          <p:spPr>
            <a:xfrm>
              <a:off x="0" y="174625"/>
              <a:ext cx="622300" cy="295275"/>
            </a:xfrm>
            <a:prstGeom prst="rect">
              <a:avLst/>
            </a:prstGeom>
          </p:spPr>
          <p:txBody>
            <a:bodyPr anchor="ctr" rtlCol="false" tIns="50800" lIns="50800" bIns="50800" rIns="50800"/>
            <a:lstStyle/>
            <a:p>
              <a:pPr algn="ctr">
                <a:lnSpc>
                  <a:spcPts val="1800"/>
                </a:lnSpc>
              </a:pPr>
            </a:p>
          </p:txBody>
        </p:sp>
      </p:grpSp>
      <p:sp>
        <p:nvSpPr>
          <p:cNvPr name="Freeform 11" id="11"/>
          <p:cNvSpPr/>
          <p:nvPr/>
        </p:nvSpPr>
        <p:spPr>
          <a:xfrm flipH="false" flipV="false" rot="0">
            <a:off x="4239046" y="1976401"/>
            <a:ext cx="9809908" cy="8117952"/>
          </a:xfrm>
          <a:custGeom>
            <a:avLst/>
            <a:gdLst/>
            <a:ahLst/>
            <a:cxnLst/>
            <a:rect r="r" b="b" t="t" l="l"/>
            <a:pathLst>
              <a:path h="8117952" w="9809908">
                <a:moveTo>
                  <a:pt x="0" y="0"/>
                </a:moveTo>
                <a:lnTo>
                  <a:pt x="9809908" y="0"/>
                </a:lnTo>
                <a:lnTo>
                  <a:pt x="9809908" y="8117952"/>
                </a:lnTo>
                <a:lnTo>
                  <a:pt x="0" y="8117952"/>
                </a:lnTo>
                <a:lnTo>
                  <a:pt x="0" y="0"/>
                </a:lnTo>
                <a:close/>
              </a:path>
            </a:pathLst>
          </a:custGeom>
          <a:blipFill>
            <a:blip r:embed="rId5"/>
            <a:stretch>
              <a:fillRect l="0" t="0" r="0" b="-77058"/>
            </a:stretch>
          </a:blipFill>
        </p:spPr>
      </p:sp>
      <p:sp>
        <p:nvSpPr>
          <p:cNvPr name="TextBox 12" id="12"/>
          <p:cNvSpPr txBox="true"/>
          <p:nvPr/>
        </p:nvSpPr>
        <p:spPr>
          <a:xfrm rot="0">
            <a:off x="3760857" y="556777"/>
            <a:ext cx="10766286" cy="1013224"/>
          </a:xfrm>
          <a:prstGeom prst="rect">
            <a:avLst/>
          </a:prstGeom>
        </p:spPr>
        <p:txBody>
          <a:bodyPr anchor="t" rtlCol="false" tIns="0" lIns="0" bIns="0" rIns="0">
            <a:spAutoFit/>
          </a:bodyPr>
          <a:lstStyle/>
          <a:p>
            <a:pPr algn="ctr" marL="0" indent="0" lvl="0">
              <a:lnSpc>
                <a:spcPts val="6006"/>
              </a:lnSpc>
              <a:spcBef>
                <a:spcPct val="0"/>
              </a:spcBef>
            </a:pPr>
            <a:r>
              <a:rPr lang="en-US" b="true" sz="6529" spc="-424">
                <a:solidFill>
                  <a:srgbClr val="FFFFFF"/>
                </a:solidFill>
                <a:latin typeface="Agrandir Bold"/>
                <a:ea typeface="Agrandir Bold"/>
                <a:cs typeface="Agrandir Bold"/>
                <a:sym typeface="Agrandir Bold"/>
              </a:rPr>
              <a:t>Sequence Diagram</a:t>
            </a:r>
          </a:p>
        </p:txBody>
      </p:sp>
      <p:sp>
        <p:nvSpPr>
          <p:cNvPr name="TextBox 13" id="13"/>
          <p:cNvSpPr txBox="true"/>
          <p:nvPr/>
        </p:nvSpPr>
        <p:spPr>
          <a:xfrm rot="0">
            <a:off x="7112843" y="1522376"/>
            <a:ext cx="4062313" cy="349250"/>
          </a:xfrm>
          <a:prstGeom prst="rect">
            <a:avLst/>
          </a:prstGeom>
        </p:spPr>
        <p:txBody>
          <a:bodyPr anchor="t" rtlCol="false" tIns="0" lIns="0" bIns="0" rIns="0">
            <a:spAutoFit/>
          </a:bodyPr>
          <a:lstStyle/>
          <a:p>
            <a:pPr algn="l">
              <a:lnSpc>
                <a:spcPts val="2800"/>
              </a:lnSpc>
            </a:pPr>
            <a:r>
              <a:rPr lang="en-US" sz="2000">
                <a:solidFill>
                  <a:srgbClr val="FFFFFF"/>
                </a:solidFill>
                <a:latin typeface="Aileron"/>
                <a:ea typeface="Aileron"/>
                <a:cs typeface="Aileron"/>
                <a:sym typeface="Aileron"/>
              </a:rPr>
              <a:t>KlinikGo Online Registration System</a:t>
            </a:r>
          </a:p>
        </p:txBody>
      </p:sp>
      <p:grpSp>
        <p:nvGrpSpPr>
          <p:cNvPr name="Group 14" id="14"/>
          <p:cNvGrpSpPr/>
          <p:nvPr/>
        </p:nvGrpSpPr>
        <p:grpSpPr>
          <a:xfrm rot="0">
            <a:off x="14527143" y="3232493"/>
            <a:ext cx="3233772" cy="5177563"/>
            <a:chOff x="0" y="0"/>
            <a:chExt cx="336473" cy="538724"/>
          </a:xfrm>
        </p:grpSpPr>
        <p:sp>
          <p:nvSpPr>
            <p:cNvPr name="Freeform 15" id="15"/>
            <p:cNvSpPr/>
            <p:nvPr/>
          </p:nvSpPr>
          <p:spPr>
            <a:xfrm flipH="false" flipV="false" rot="0">
              <a:off x="0" y="0"/>
              <a:ext cx="336473" cy="538724"/>
            </a:xfrm>
            <a:custGeom>
              <a:avLst/>
              <a:gdLst/>
              <a:ahLst/>
              <a:cxnLst/>
              <a:rect r="r" b="b" t="t" l="l"/>
              <a:pathLst>
                <a:path h="538724" w="336473">
                  <a:moveTo>
                    <a:pt x="71822" y="0"/>
                  </a:moveTo>
                  <a:lnTo>
                    <a:pt x="264651" y="0"/>
                  </a:lnTo>
                  <a:cubicBezTo>
                    <a:pt x="304317" y="0"/>
                    <a:pt x="336473" y="32156"/>
                    <a:pt x="336473" y="71822"/>
                  </a:cubicBezTo>
                  <a:lnTo>
                    <a:pt x="336473" y="466901"/>
                  </a:lnTo>
                  <a:cubicBezTo>
                    <a:pt x="336473" y="506568"/>
                    <a:pt x="304317" y="538724"/>
                    <a:pt x="264651" y="538724"/>
                  </a:cubicBezTo>
                  <a:lnTo>
                    <a:pt x="71822" y="538724"/>
                  </a:lnTo>
                  <a:cubicBezTo>
                    <a:pt x="32156" y="538724"/>
                    <a:pt x="0" y="506568"/>
                    <a:pt x="0" y="466901"/>
                  </a:cubicBezTo>
                  <a:lnTo>
                    <a:pt x="0" y="71822"/>
                  </a:lnTo>
                  <a:cubicBezTo>
                    <a:pt x="0" y="32156"/>
                    <a:pt x="32156" y="0"/>
                    <a:pt x="71822" y="0"/>
                  </a:cubicBezTo>
                  <a:close/>
                </a:path>
              </a:pathLst>
            </a:custGeom>
            <a:solidFill>
              <a:srgbClr val="223272"/>
            </a:solidFill>
            <a:ln w="19050" cap="rnd">
              <a:gradFill>
                <a:gsLst>
                  <a:gs pos="0">
                    <a:srgbClr val="FFFFFF">
                      <a:alpha val="50000"/>
                    </a:srgbClr>
                  </a:gs>
                  <a:gs pos="50000">
                    <a:srgbClr val="FFFFFF">
                      <a:alpha val="0"/>
                    </a:srgbClr>
                  </a:gs>
                  <a:gs pos="100000">
                    <a:srgbClr val="FFFFFF">
                      <a:alpha val="50000"/>
                    </a:srgbClr>
                  </a:gs>
                </a:gsLst>
                <a:lin ang="0"/>
              </a:gradFill>
              <a:prstDash val="solid"/>
              <a:round/>
            </a:ln>
          </p:spPr>
        </p:sp>
        <p:sp>
          <p:nvSpPr>
            <p:cNvPr name="TextBox 16" id="16"/>
            <p:cNvSpPr txBox="true"/>
            <p:nvPr/>
          </p:nvSpPr>
          <p:spPr>
            <a:xfrm>
              <a:off x="0" y="38100"/>
              <a:ext cx="336473" cy="500624"/>
            </a:xfrm>
            <a:prstGeom prst="rect">
              <a:avLst/>
            </a:prstGeom>
          </p:spPr>
          <p:txBody>
            <a:bodyPr anchor="ctr" rtlCol="false" tIns="50800" lIns="50800" bIns="50800" rIns="50800"/>
            <a:lstStyle/>
            <a:p>
              <a:pPr algn="ctr">
                <a:lnSpc>
                  <a:spcPts val="1440"/>
                </a:lnSpc>
              </a:pPr>
            </a:p>
          </p:txBody>
        </p:sp>
      </p:grpSp>
      <p:sp>
        <p:nvSpPr>
          <p:cNvPr name="TextBox 17" id="17"/>
          <p:cNvSpPr txBox="true"/>
          <p:nvPr/>
        </p:nvSpPr>
        <p:spPr>
          <a:xfrm rot="0">
            <a:off x="14744131" y="3557142"/>
            <a:ext cx="2799798" cy="4509214"/>
          </a:xfrm>
          <a:prstGeom prst="rect">
            <a:avLst/>
          </a:prstGeom>
        </p:spPr>
        <p:txBody>
          <a:bodyPr anchor="t" rtlCol="false" tIns="0" lIns="0" bIns="0" rIns="0">
            <a:spAutoFit/>
          </a:bodyPr>
          <a:lstStyle/>
          <a:p>
            <a:pPr algn="just" marL="0" indent="0" lvl="0">
              <a:lnSpc>
                <a:spcPts val="1885"/>
              </a:lnSpc>
              <a:spcBef>
                <a:spcPct val="0"/>
              </a:spcBef>
            </a:pPr>
            <a:r>
              <a:rPr lang="en-US" sz="1346" strike="noStrike" u="none">
                <a:solidFill>
                  <a:srgbClr val="FFFFFF"/>
                </a:solidFill>
                <a:latin typeface="Aileron"/>
                <a:ea typeface="Aileron"/>
                <a:cs typeface="Aileron"/>
                <a:sym typeface="Aileron"/>
              </a:rPr>
              <a:t>This diagram shows the chronological message exchanges between system components during the registration process, covering all three patient types: New Patient, Returning Non-BPJS, and Returning BPJS. It traces calls from the WebUI through the Registration Controller, Database, and Notification Service — including data validation, MR number verification, schedule availability checks, data saving, and confirmation delivery via WhatsApp and Email. The clinic visit day section shows verification at the Counter (for new and non-BPJS patients) and at the APM Machine (for BPJS returning patients).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228" t="-35818" r="-11439" b="0"/>
            </a:stretch>
          </a:blipFill>
        </p:spPr>
      </p:sp>
      <p:grpSp>
        <p:nvGrpSpPr>
          <p:cNvPr name="Group 3" id="3"/>
          <p:cNvGrpSpPr/>
          <p:nvPr/>
        </p:nvGrpSpPr>
        <p:grpSpPr>
          <a:xfrm rot="0">
            <a:off x="14672259" y="487399"/>
            <a:ext cx="2799798" cy="1082602"/>
            <a:chOff x="0" y="0"/>
            <a:chExt cx="3733063" cy="1443469"/>
          </a:xfrm>
        </p:grpSpPr>
        <p:sp>
          <p:nvSpPr>
            <p:cNvPr name="Freeform 4" id="4"/>
            <p:cNvSpPr/>
            <p:nvPr/>
          </p:nvSpPr>
          <p:spPr>
            <a:xfrm flipH="false" flipV="false" rot="0">
              <a:off x="0" y="0"/>
              <a:ext cx="3733038" cy="1443482"/>
            </a:xfrm>
            <a:custGeom>
              <a:avLst/>
              <a:gdLst/>
              <a:ahLst/>
              <a:cxnLst/>
              <a:rect r="r" b="b" t="t" l="l"/>
              <a:pathLst>
                <a:path h="1443482" w="3733038">
                  <a:moveTo>
                    <a:pt x="0" y="0"/>
                  </a:moveTo>
                  <a:lnTo>
                    <a:pt x="3733038" y="0"/>
                  </a:lnTo>
                  <a:lnTo>
                    <a:pt x="3733038" y="1443482"/>
                  </a:lnTo>
                  <a:lnTo>
                    <a:pt x="0" y="1443482"/>
                  </a:lnTo>
                  <a:lnTo>
                    <a:pt x="0" y="0"/>
                  </a:lnTo>
                  <a:close/>
                </a:path>
              </a:pathLst>
            </a:custGeom>
            <a:blipFill>
              <a:blip r:embed="rId4"/>
              <a:stretch>
                <a:fillRect l="0" t="0" r="0" b="-193"/>
              </a:stretch>
            </a:blipFill>
          </p:spPr>
        </p:sp>
      </p:grpSp>
      <p:grpSp>
        <p:nvGrpSpPr>
          <p:cNvPr name="Group 5" id="5"/>
          <p:cNvGrpSpPr/>
          <p:nvPr/>
        </p:nvGrpSpPr>
        <p:grpSpPr>
          <a:xfrm rot="5400000">
            <a:off x="12945683" y="6409665"/>
            <a:ext cx="9329765" cy="8948959"/>
            <a:chOff x="0" y="0"/>
            <a:chExt cx="622300" cy="596900"/>
          </a:xfrm>
        </p:grpSpPr>
        <p:sp>
          <p:nvSpPr>
            <p:cNvPr name="Freeform 6" id="6"/>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true">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sp>
        <p:sp>
          <p:nvSpPr>
            <p:cNvPr name="TextBox 7" id="7"/>
            <p:cNvSpPr txBox="true"/>
            <p:nvPr/>
          </p:nvSpPr>
          <p:spPr>
            <a:xfrm>
              <a:off x="0" y="174625"/>
              <a:ext cx="622300" cy="295275"/>
            </a:xfrm>
            <a:prstGeom prst="rect">
              <a:avLst/>
            </a:prstGeom>
          </p:spPr>
          <p:txBody>
            <a:bodyPr anchor="ctr" rtlCol="false" tIns="50800" lIns="50800" bIns="50800" rIns="50800"/>
            <a:lstStyle/>
            <a:p>
              <a:pPr algn="ctr">
                <a:lnSpc>
                  <a:spcPts val="1800"/>
                </a:lnSpc>
              </a:pPr>
            </a:p>
          </p:txBody>
        </p:sp>
      </p:grpSp>
      <p:grpSp>
        <p:nvGrpSpPr>
          <p:cNvPr name="Group 8" id="8"/>
          <p:cNvGrpSpPr/>
          <p:nvPr/>
        </p:nvGrpSpPr>
        <p:grpSpPr>
          <a:xfrm rot="5400000">
            <a:off x="-3987448" y="6409665"/>
            <a:ext cx="9329765" cy="8948959"/>
            <a:chOff x="0" y="0"/>
            <a:chExt cx="622300" cy="596900"/>
          </a:xfrm>
        </p:grpSpPr>
        <p:sp>
          <p:nvSpPr>
            <p:cNvPr name="Freeform 9" id="9"/>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true">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sp>
        <p:sp>
          <p:nvSpPr>
            <p:cNvPr name="TextBox 10" id="10"/>
            <p:cNvSpPr txBox="true"/>
            <p:nvPr/>
          </p:nvSpPr>
          <p:spPr>
            <a:xfrm>
              <a:off x="0" y="174625"/>
              <a:ext cx="622300" cy="295275"/>
            </a:xfrm>
            <a:prstGeom prst="rect">
              <a:avLst/>
            </a:prstGeom>
          </p:spPr>
          <p:txBody>
            <a:bodyPr anchor="ctr" rtlCol="false" tIns="50800" lIns="50800" bIns="50800" rIns="50800"/>
            <a:lstStyle/>
            <a:p>
              <a:pPr algn="ctr">
                <a:lnSpc>
                  <a:spcPts val="1800"/>
                </a:lnSpc>
              </a:pPr>
            </a:p>
          </p:txBody>
        </p:sp>
      </p:grpSp>
      <p:sp>
        <p:nvSpPr>
          <p:cNvPr name="Freeform 11" id="11"/>
          <p:cNvSpPr/>
          <p:nvPr/>
        </p:nvSpPr>
        <p:spPr>
          <a:xfrm flipH="false" flipV="false" rot="0">
            <a:off x="3760857" y="2034086"/>
            <a:ext cx="10570929" cy="8061257"/>
          </a:xfrm>
          <a:custGeom>
            <a:avLst/>
            <a:gdLst/>
            <a:ahLst/>
            <a:cxnLst/>
            <a:rect r="r" b="b" t="t" l="l"/>
            <a:pathLst>
              <a:path h="8061257" w="10570929">
                <a:moveTo>
                  <a:pt x="0" y="0"/>
                </a:moveTo>
                <a:lnTo>
                  <a:pt x="10570929" y="0"/>
                </a:lnTo>
                <a:lnTo>
                  <a:pt x="10570929" y="8061257"/>
                </a:lnTo>
                <a:lnTo>
                  <a:pt x="0" y="8061257"/>
                </a:lnTo>
                <a:lnTo>
                  <a:pt x="0" y="0"/>
                </a:lnTo>
                <a:close/>
              </a:path>
            </a:pathLst>
          </a:custGeom>
          <a:blipFill>
            <a:blip r:embed="rId5"/>
            <a:stretch>
              <a:fillRect l="0" t="0" r="-1848" b="0"/>
            </a:stretch>
          </a:blipFill>
        </p:spPr>
      </p:sp>
      <p:sp>
        <p:nvSpPr>
          <p:cNvPr name="TextBox 12" id="12"/>
          <p:cNvSpPr txBox="true"/>
          <p:nvPr/>
        </p:nvSpPr>
        <p:spPr>
          <a:xfrm rot="0">
            <a:off x="3760857" y="556777"/>
            <a:ext cx="10766286" cy="1013224"/>
          </a:xfrm>
          <a:prstGeom prst="rect">
            <a:avLst/>
          </a:prstGeom>
        </p:spPr>
        <p:txBody>
          <a:bodyPr anchor="t" rtlCol="false" tIns="0" lIns="0" bIns="0" rIns="0">
            <a:spAutoFit/>
          </a:bodyPr>
          <a:lstStyle/>
          <a:p>
            <a:pPr algn="ctr" marL="0" indent="0" lvl="0">
              <a:lnSpc>
                <a:spcPts val="6006"/>
              </a:lnSpc>
              <a:spcBef>
                <a:spcPct val="0"/>
              </a:spcBef>
            </a:pPr>
            <a:r>
              <a:rPr lang="en-US" b="true" sz="6529" spc="-424">
                <a:solidFill>
                  <a:srgbClr val="FFFFFF"/>
                </a:solidFill>
                <a:latin typeface="Agrandir Bold"/>
                <a:ea typeface="Agrandir Bold"/>
                <a:cs typeface="Agrandir Bold"/>
                <a:sym typeface="Agrandir Bold"/>
              </a:rPr>
              <a:t>Sequence Diagram</a:t>
            </a:r>
          </a:p>
        </p:txBody>
      </p:sp>
      <p:sp>
        <p:nvSpPr>
          <p:cNvPr name="TextBox 13" id="13"/>
          <p:cNvSpPr txBox="true"/>
          <p:nvPr/>
        </p:nvSpPr>
        <p:spPr>
          <a:xfrm rot="0">
            <a:off x="6182072" y="1522376"/>
            <a:ext cx="5923856" cy="349250"/>
          </a:xfrm>
          <a:prstGeom prst="rect">
            <a:avLst/>
          </a:prstGeom>
        </p:spPr>
        <p:txBody>
          <a:bodyPr anchor="t" rtlCol="false" tIns="0" lIns="0" bIns="0" rIns="0">
            <a:spAutoFit/>
          </a:bodyPr>
          <a:lstStyle/>
          <a:p>
            <a:pPr algn="l">
              <a:lnSpc>
                <a:spcPts val="2800"/>
              </a:lnSpc>
            </a:pPr>
            <a:r>
              <a:rPr lang="en-US" sz="2000">
                <a:solidFill>
                  <a:srgbClr val="FFFFFF"/>
                </a:solidFill>
                <a:latin typeface="Aileron"/>
                <a:ea typeface="Aileron"/>
                <a:cs typeface="Aileron"/>
                <a:sym typeface="Aileron"/>
              </a:rPr>
              <a:t>Doct</a:t>
            </a:r>
            <a:r>
              <a:rPr lang="en-US" sz="2000">
                <a:solidFill>
                  <a:srgbClr val="FFFFFF"/>
                </a:solidFill>
                <a:latin typeface="Aileron"/>
                <a:ea typeface="Aileron"/>
                <a:cs typeface="Aileron"/>
                <a:sym typeface="Aileron"/>
              </a:rPr>
              <a:t>or Schedule Change &amp; Patient Notification Flow</a:t>
            </a:r>
          </a:p>
        </p:txBody>
      </p:sp>
      <p:grpSp>
        <p:nvGrpSpPr>
          <p:cNvPr name="Group 14" id="14"/>
          <p:cNvGrpSpPr/>
          <p:nvPr/>
        </p:nvGrpSpPr>
        <p:grpSpPr>
          <a:xfrm rot="0">
            <a:off x="14672259" y="3232493"/>
            <a:ext cx="3233772" cy="5177563"/>
            <a:chOff x="0" y="0"/>
            <a:chExt cx="336473" cy="538724"/>
          </a:xfrm>
        </p:grpSpPr>
        <p:sp>
          <p:nvSpPr>
            <p:cNvPr name="Freeform 15" id="15"/>
            <p:cNvSpPr/>
            <p:nvPr/>
          </p:nvSpPr>
          <p:spPr>
            <a:xfrm flipH="false" flipV="false" rot="0">
              <a:off x="0" y="0"/>
              <a:ext cx="336473" cy="538724"/>
            </a:xfrm>
            <a:custGeom>
              <a:avLst/>
              <a:gdLst/>
              <a:ahLst/>
              <a:cxnLst/>
              <a:rect r="r" b="b" t="t" l="l"/>
              <a:pathLst>
                <a:path h="538724" w="336473">
                  <a:moveTo>
                    <a:pt x="71822" y="0"/>
                  </a:moveTo>
                  <a:lnTo>
                    <a:pt x="264651" y="0"/>
                  </a:lnTo>
                  <a:cubicBezTo>
                    <a:pt x="304317" y="0"/>
                    <a:pt x="336473" y="32156"/>
                    <a:pt x="336473" y="71822"/>
                  </a:cubicBezTo>
                  <a:lnTo>
                    <a:pt x="336473" y="466901"/>
                  </a:lnTo>
                  <a:cubicBezTo>
                    <a:pt x="336473" y="506568"/>
                    <a:pt x="304317" y="538724"/>
                    <a:pt x="264651" y="538724"/>
                  </a:cubicBezTo>
                  <a:lnTo>
                    <a:pt x="71822" y="538724"/>
                  </a:lnTo>
                  <a:cubicBezTo>
                    <a:pt x="32156" y="538724"/>
                    <a:pt x="0" y="506568"/>
                    <a:pt x="0" y="466901"/>
                  </a:cubicBezTo>
                  <a:lnTo>
                    <a:pt x="0" y="71822"/>
                  </a:lnTo>
                  <a:cubicBezTo>
                    <a:pt x="0" y="32156"/>
                    <a:pt x="32156" y="0"/>
                    <a:pt x="71822" y="0"/>
                  </a:cubicBezTo>
                  <a:close/>
                </a:path>
              </a:pathLst>
            </a:custGeom>
            <a:solidFill>
              <a:srgbClr val="223272"/>
            </a:solidFill>
            <a:ln w="19050" cap="rnd">
              <a:gradFill>
                <a:gsLst>
                  <a:gs pos="0">
                    <a:srgbClr val="FFFFFF">
                      <a:alpha val="50000"/>
                    </a:srgbClr>
                  </a:gs>
                  <a:gs pos="50000">
                    <a:srgbClr val="FFFFFF">
                      <a:alpha val="0"/>
                    </a:srgbClr>
                  </a:gs>
                  <a:gs pos="100000">
                    <a:srgbClr val="FFFFFF">
                      <a:alpha val="50000"/>
                    </a:srgbClr>
                  </a:gs>
                </a:gsLst>
                <a:lin ang="0"/>
              </a:gradFill>
              <a:prstDash val="solid"/>
              <a:round/>
            </a:ln>
          </p:spPr>
        </p:sp>
        <p:sp>
          <p:nvSpPr>
            <p:cNvPr name="TextBox 16" id="16"/>
            <p:cNvSpPr txBox="true"/>
            <p:nvPr/>
          </p:nvSpPr>
          <p:spPr>
            <a:xfrm>
              <a:off x="0" y="38100"/>
              <a:ext cx="336473" cy="500624"/>
            </a:xfrm>
            <a:prstGeom prst="rect">
              <a:avLst/>
            </a:prstGeom>
          </p:spPr>
          <p:txBody>
            <a:bodyPr anchor="ctr" rtlCol="false" tIns="50800" lIns="50800" bIns="50800" rIns="50800"/>
            <a:lstStyle/>
            <a:p>
              <a:pPr algn="ctr">
                <a:lnSpc>
                  <a:spcPts val="1440"/>
                </a:lnSpc>
              </a:pPr>
            </a:p>
          </p:txBody>
        </p:sp>
      </p:grpSp>
      <p:sp>
        <p:nvSpPr>
          <p:cNvPr name="TextBox 17" id="17"/>
          <p:cNvSpPr txBox="true"/>
          <p:nvPr/>
        </p:nvSpPr>
        <p:spPr>
          <a:xfrm rot="0">
            <a:off x="14881153" y="3813922"/>
            <a:ext cx="2815984" cy="3986129"/>
          </a:xfrm>
          <a:prstGeom prst="rect">
            <a:avLst/>
          </a:prstGeom>
        </p:spPr>
        <p:txBody>
          <a:bodyPr anchor="t" rtlCol="false" tIns="0" lIns="0" bIns="0" rIns="0">
            <a:spAutoFit/>
          </a:bodyPr>
          <a:lstStyle/>
          <a:p>
            <a:pPr algn="just" marL="0" indent="0" lvl="0">
              <a:lnSpc>
                <a:spcPts val="1976"/>
              </a:lnSpc>
              <a:spcBef>
                <a:spcPct val="0"/>
              </a:spcBef>
            </a:pPr>
            <a:r>
              <a:rPr lang="en-US" sz="1411" strike="noStrike" u="none">
                <a:solidFill>
                  <a:srgbClr val="FFFFFF"/>
                </a:solidFill>
                <a:latin typeface="Aileron"/>
                <a:ea typeface="Aileron"/>
                <a:cs typeface="Aileron"/>
                <a:sym typeface="Aileron"/>
              </a:rPr>
              <a:t>This diagram specifically addresses Business Requirement No. 2: doctor schedules can change at any time, and the system must notify all registered patients immediately. It shows the full sequence from Admin/Doctor submitting a schedule update, the system saving the new schedule, retrieving the list of affected patients, and the Notification Service dispatching WhatsApp and Email messages to each patient. The Admin can monitor notification delivery status from the dashboard.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228" t="-35818" r="-11439" b="0"/>
            </a:stretch>
          </a:blipFill>
        </p:spPr>
      </p:sp>
      <p:grpSp>
        <p:nvGrpSpPr>
          <p:cNvPr name="Group 3" id="3"/>
          <p:cNvGrpSpPr/>
          <p:nvPr/>
        </p:nvGrpSpPr>
        <p:grpSpPr>
          <a:xfrm rot="0">
            <a:off x="5790848" y="8525246"/>
            <a:ext cx="2799798" cy="1082602"/>
            <a:chOff x="0" y="0"/>
            <a:chExt cx="3733063" cy="1443469"/>
          </a:xfrm>
        </p:grpSpPr>
        <p:sp>
          <p:nvSpPr>
            <p:cNvPr name="Freeform 4" id="4"/>
            <p:cNvSpPr/>
            <p:nvPr/>
          </p:nvSpPr>
          <p:spPr>
            <a:xfrm flipH="false" flipV="false" rot="0">
              <a:off x="0" y="0"/>
              <a:ext cx="3733038" cy="1443482"/>
            </a:xfrm>
            <a:custGeom>
              <a:avLst/>
              <a:gdLst/>
              <a:ahLst/>
              <a:cxnLst/>
              <a:rect r="r" b="b" t="t" l="l"/>
              <a:pathLst>
                <a:path h="1443482" w="3733038">
                  <a:moveTo>
                    <a:pt x="0" y="0"/>
                  </a:moveTo>
                  <a:lnTo>
                    <a:pt x="3733038" y="0"/>
                  </a:lnTo>
                  <a:lnTo>
                    <a:pt x="3733038" y="1443482"/>
                  </a:lnTo>
                  <a:lnTo>
                    <a:pt x="0" y="1443482"/>
                  </a:lnTo>
                  <a:lnTo>
                    <a:pt x="0" y="0"/>
                  </a:lnTo>
                  <a:close/>
                </a:path>
              </a:pathLst>
            </a:custGeom>
            <a:blipFill>
              <a:blip r:embed="rId4"/>
              <a:stretch>
                <a:fillRect l="0" t="0" r="0" b="-193"/>
              </a:stretch>
            </a:blipFill>
          </p:spPr>
        </p:sp>
      </p:grpSp>
      <p:sp>
        <p:nvSpPr>
          <p:cNvPr name="TextBox 5" id="5"/>
          <p:cNvSpPr txBox="true"/>
          <p:nvPr/>
        </p:nvSpPr>
        <p:spPr>
          <a:xfrm rot="0">
            <a:off x="4843424" y="3961600"/>
            <a:ext cx="8601151" cy="1581074"/>
          </a:xfrm>
          <a:prstGeom prst="rect">
            <a:avLst/>
          </a:prstGeom>
        </p:spPr>
        <p:txBody>
          <a:bodyPr anchor="t" rtlCol="false" tIns="0" lIns="0" bIns="0" rIns="0">
            <a:spAutoFit/>
          </a:bodyPr>
          <a:lstStyle/>
          <a:p>
            <a:pPr algn="ctr">
              <a:lnSpc>
                <a:spcPts val="10800"/>
              </a:lnSpc>
            </a:pPr>
            <a:r>
              <a:rPr lang="en-US" b="true" sz="9000">
                <a:solidFill>
                  <a:srgbClr val="FFFFFF"/>
                </a:solidFill>
                <a:latin typeface="Rubik Bold"/>
                <a:ea typeface="Rubik Bold"/>
                <a:cs typeface="Rubik Bold"/>
                <a:sym typeface="Rubik Bold"/>
              </a:rPr>
              <a:t>Thank You</a:t>
            </a:r>
          </a:p>
        </p:txBody>
      </p:sp>
      <p:sp>
        <p:nvSpPr>
          <p:cNvPr name="TextBox 6" id="6"/>
          <p:cNvSpPr txBox="true"/>
          <p:nvPr/>
        </p:nvSpPr>
        <p:spPr>
          <a:xfrm rot="0">
            <a:off x="8720928" y="8569528"/>
            <a:ext cx="732749" cy="1129198"/>
          </a:xfrm>
          <a:prstGeom prst="rect">
            <a:avLst/>
          </a:prstGeom>
        </p:spPr>
        <p:txBody>
          <a:bodyPr anchor="t" rtlCol="false" tIns="0" lIns="0" bIns="0" rIns="0">
            <a:spAutoFit/>
          </a:bodyPr>
          <a:lstStyle/>
          <a:p>
            <a:pPr algn="l">
              <a:lnSpc>
                <a:spcPts val="7200"/>
              </a:lnSpc>
            </a:pPr>
            <a:r>
              <a:rPr lang="en-US" sz="6000">
                <a:solidFill>
                  <a:srgbClr val="FFFFFF"/>
                </a:solidFill>
                <a:latin typeface="Rubik"/>
                <a:ea typeface="Rubik"/>
                <a:cs typeface="Rubik"/>
                <a:sym typeface="Rubik"/>
              </a:rPr>
              <a:t>X</a:t>
            </a:r>
          </a:p>
        </p:txBody>
      </p:sp>
      <p:sp>
        <p:nvSpPr>
          <p:cNvPr name="Freeform 7" id="7"/>
          <p:cNvSpPr/>
          <p:nvPr/>
        </p:nvSpPr>
        <p:spPr>
          <a:xfrm flipH="false" flipV="false" rot="0">
            <a:off x="9985147" y="8710294"/>
            <a:ext cx="2289180" cy="712507"/>
          </a:xfrm>
          <a:custGeom>
            <a:avLst/>
            <a:gdLst/>
            <a:ahLst/>
            <a:cxnLst/>
            <a:rect r="r" b="b" t="t" l="l"/>
            <a:pathLst>
              <a:path h="712507" w="2289180">
                <a:moveTo>
                  <a:pt x="0" y="0"/>
                </a:moveTo>
                <a:lnTo>
                  <a:pt x="2289180" y="0"/>
                </a:lnTo>
                <a:lnTo>
                  <a:pt x="2289180" y="712507"/>
                </a:lnTo>
                <a:lnTo>
                  <a:pt x="0" y="712507"/>
                </a:lnTo>
                <a:lnTo>
                  <a:pt x="0" y="0"/>
                </a:lnTo>
                <a:close/>
              </a:path>
            </a:pathLst>
          </a:custGeom>
          <a:blipFill>
            <a:blip r:embed="rId5"/>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DAHGIpR-J2c</dc:identifier>
  <dcterms:modified xsi:type="dcterms:W3CDTF">2011-08-01T06:04:30Z</dcterms:modified>
  <cp:revision>1</cp:revision>
  <dc:title>Final Project Rakamin FIX</dc:title>
</cp:coreProperties>
</file>