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651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62254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ANALYST PORTFOLIO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Production &amp;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Management System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29260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0175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Adinda  ·  Graphic Designer → System Analyst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401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Boga Kaya Rasa  ·  2023 –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297680"/>
            <a:ext cx="1737360" cy="365760"/>
          </a:xfrm>
          <a:prstGeom prst="rect">
            <a:avLst/>
          </a:prstGeom>
          <a:solidFill>
            <a:srgbClr val="2E75B6">
              <a:alpha val="4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Deliverables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4297680"/>
            <a:ext cx="1737360" cy="365760"/>
          </a:xfrm>
          <a:prstGeom prst="rect">
            <a:avLst/>
          </a:prstGeom>
          <a:solidFill>
            <a:srgbClr val="2E75B6">
              <a:alpha val="4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User Stories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4297680"/>
            <a:ext cx="1737360" cy="365760"/>
          </a:xfrm>
          <a:prstGeom prst="rect">
            <a:avLst/>
          </a:prstGeom>
          <a:solidFill>
            <a:srgbClr val="2E75B6">
              <a:alpha val="4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4297680"/>
            <a:ext cx="1737360" cy="365760"/>
          </a:xfrm>
          <a:prstGeom prst="rect">
            <a:avLst/>
          </a:prstGeom>
          <a:solidFill>
            <a:srgbClr val="2E75B6">
              <a:alpha val="4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witnessed working as a Designer at CV Boga Kaya Rasa for nearly 2 years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1417320"/>
          </a:xfrm>
          <a:prstGeom prst="rect">
            <a:avLst/>
          </a:prstGeom>
          <a:solidFill>
            <a:srgbClr val="FCE4D6"/>
          </a:solidFill>
          <a:ln w="19050">
            <a:solidFill>
              <a:srgbClr val="AE41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Lost in WhatsApp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474720" cy="27432"/>
          </a:xfrm>
          <a:prstGeom prst="rect">
            <a:avLst/>
          </a:prstGeom>
          <a:solidFill>
            <a:srgbClr val="AE413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830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requests came through WhatsApp messages and verbal conversations — frequently forgotten or missed entirely.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1417320"/>
          </a:xfrm>
          <a:prstGeom prst="rect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No Status Visibility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3474720" cy="27432"/>
          </a:xfrm>
          <a:prstGeom prst="rect">
            <a:avLst/>
          </a:prstGeom>
          <a:solidFill>
            <a:srgbClr val="D6B65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830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on the team knew the real-time status of ongoing work — whether a design was in progress or already done.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114800" cy="1417320"/>
          </a:xfrm>
          <a:prstGeom prst="rect">
            <a:avLst/>
          </a:prstGeom>
          <a:solidFill>
            <a:srgbClr val="E1D5E7"/>
          </a:solidFill>
          <a:ln w="1905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Uncontrolled Revisions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3474720" cy="27432"/>
          </a:xfrm>
          <a:prstGeom prst="rect">
            <a:avLst/>
          </a:prstGeom>
          <a:solidFill>
            <a:srgbClr val="7B4F9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832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was communicated informally, leading to repeated misunderstandings, rework, and wasted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14800" cy="1417320"/>
          </a:xfrm>
          <a:prstGeom prst="rect">
            <a:avLst/>
          </a:prstGeom>
          <a:solidFill>
            <a:srgbClr val="D5E8F0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Overwhelmed Team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291840"/>
            <a:ext cx="347472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832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team managed 6 brands with no centralized system to track, prioritize, or document any requests.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4805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weren't people problems. They were system problems."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replacing informal workflows with structured, documented, and auditable processes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 ROLES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657600" cy="329184"/>
          </a:xfrm>
          <a:prstGeom prst="rect">
            <a:avLst/>
          </a:prstGeom>
          <a:solidFill>
            <a:srgbClr val="2E75B6">
              <a:alpha val="4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75104"/>
            <a:ext cx="3657600" cy="329184"/>
          </a:xfrm>
          <a:prstGeom prst="rect">
            <a:avLst/>
          </a:prstGeom>
          <a:solidFill>
            <a:srgbClr val="1A7A4A">
              <a:alpha val="4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751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3657600" cy="329184"/>
          </a:xfrm>
          <a:prstGeom prst="rect">
            <a:avLst/>
          </a:prstGeom>
          <a:solidFill>
            <a:srgbClr val="1A7A4A">
              <a:alpha val="4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774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3657600" cy="329184"/>
          </a:xfrm>
          <a:prstGeom prst="rect">
            <a:avLst/>
          </a:prstGeom>
          <a:solidFill>
            <a:srgbClr val="7B4F9A">
              <a:alpha val="45000"/>
            </a:srgbClr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797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(DKV)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3657600" cy="329184"/>
          </a:xfrm>
          <a:prstGeom prst="rect">
            <a:avLst/>
          </a:prstGeom>
          <a:solidFill>
            <a:srgbClr val="7B4F9A">
              <a:alpha val="45000"/>
            </a:srgbClr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821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1234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BRANDS MANAGED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572768"/>
            <a:ext cx="4297680" cy="329184"/>
          </a:xfrm>
          <a:prstGeom prst="rect">
            <a:avLst/>
          </a:prstGeom>
          <a:solidFill>
            <a:srgbClr val="D5E8F0">
              <a:alpha val="20000"/>
            </a:srgbClr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57276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ShabuPot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975104"/>
            <a:ext cx="4297680" cy="329184"/>
          </a:xfrm>
          <a:prstGeom prst="rect">
            <a:avLst/>
          </a:prstGeom>
          <a:solidFill>
            <a:srgbClr val="D5E8F0">
              <a:alpha val="20000"/>
            </a:srgbClr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9751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Baropi Grill 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2377440"/>
            <a:ext cx="4297680" cy="329184"/>
          </a:xfrm>
          <a:prstGeom prst="rect">
            <a:avLst/>
          </a:prstGeom>
          <a:solidFill>
            <a:srgbClr val="D5E8F0">
              <a:alpha val="20000"/>
            </a:srgbClr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37744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Baropi Grill PTC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779776"/>
            <a:ext cx="4297680" cy="329184"/>
          </a:xfrm>
          <a:prstGeom prst="rect">
            <a:avLst/>
          </a:prstGeom>
          <a:solidFill>
            <a:srgbClr val="D5E8F0">
              <a:alpha val="20000"/>
            </a:srgbClr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77977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Baropi Grill OPI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3182112"/>
            <a:ext cx="4297680" cy="329184"/>
          </a:xfrm>
          <a:prstGeom prst="rect">
            <a:avLst/>
          </a:prstGeom>
          <a:solidFill>
            <a:srgbClr val="D5E8F0">
              <a:alpha val="20000"/>
            </a:srgbClr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18211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Barong Palembang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0" y="3584448"/>
            <a:ext cx="4297680" cy="329184"/>
          </a:xfrm>
          <a:prstGeom prst="rect">
            <a:avLst/>
          </a:prstGeom>
          <a:solidFill>
            <a:srgbClr val="D5E8F0">
              <a:alpha val="20000"/>
            </a:srgbClr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58444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Barong Hotel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— 9 STATUS STAGES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896112" cy="384048"/>
          </a:xfrm>
          <a:prstGeom prst="rect">
            <a:avLst/>
          </a:prstGeom>
          <a:solidFill>
            <a:srgbClr val="7A8A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61288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71016" y="4389120"/>
            <a:ext cx="896112" cy="384048"/>
          </a:xfrm>
          <a:prstGeom prst="rect">
            <a:avLst/>
          </a:prstGeom>
          <a:solidFill>
            <a:srgbClr val="D6B65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016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12264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21992" y="4389120"/>
            <a:ext cx="896112" cy="384048"/>
          </a:xfrm>
          <a:prstGeom prst="rect">
            <a:avLst/>
          </a:prstGeom>
          <a:solidFill>
            <a:srgbClr val="1A7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1992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63240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172968" y="4389120"/>
            <a:ext cx="896112" cy="384048"/>
          </a:xfrm>
          <a:prstGeom prst="rect">
            <a:avLst/>
          </a:prstGeom>
          <a:solidFill>
            <a:srgbClr val="7B4F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72968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014216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23944" y="4389120"/>
            <a:ext cx="896112" cy="384048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3944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65192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074920" y="4389120"/>
            <a:ext cx="896112" cy="384048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16168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025896" y="4389120"/>
            <a:ext cx="896112" cy="384048"/>
          </a:xfrm>
          <a:prstGeom prst="rect">
            <a:avLst/>
          </a:prstGeom>
          <a:solidFill>
            <a:srgbClr val="AE41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5896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67144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976872" y="4389120"/>
            <a:ext cx="896112" cy="384048"/>
          </a:xfrm>
          <a:prstGeom prst="rect">
            <a:avLst/>
          </a:prstGeom>
          <a:solidFill>
            <a:srgbClr val="1A7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76872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818120" y="442569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927848" y="4389120"/>
            <a:ext cx="896112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27848" y="4389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entities · 18 relations · Full constraints, indexes &amp; data integrity rules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0" y="201168"/>
            <a:ext cx="868680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20116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0" y="5303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"/>
            <a:ext cx="868680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20116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63640" y="5303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223760" y="201168"/>
            <a:ext cx="868680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20116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5303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83880" y="201168"/>
            <a:ext cx="868680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20116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83880" y="5303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097280"/>
            <a:ext cx="27432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14447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14447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19019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" y="19019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3591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9768" y="23591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8163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" y="28163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brand_users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1097280"/>
            <a:ext cx="27432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14447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55848" y="14447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19019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55848" y="19019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23591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55848" y="23591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28163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55848" y="28163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status_history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1097280"/>
            <a:ext cx="2743200" cy="292608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14447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81928" y="14447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19019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81928" y="19019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video_links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23591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81928" y="23591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revisions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72200" y="28163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81928" y="28163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72200" y="32735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81928" y="32735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72200" y="37307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81928" y="37307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announcements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72200" y="4187952"/>
            <a:ext cx="2743200" cy="3931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281928" y="418795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ERD documentation available in GitHub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Flow Diagrams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diagrams covering every angle of the system — from business process to data flow to user interaction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777240"/>
          </a:xfrm>
          <a:prstGeom prst="rect">
            <a:avLst/>
          </a:prstGeom>
          <a:solidFill>
            <a:srgbClr val="2E75B6">
              <a:alpha val="30000"/>
            </a:srgbClr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Model &amp; Notation 2.0 — Pool/Lane, Parallel Gateway, Exclusive Gateway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4206240" cy="777240"/>
          </a:xfrm>
          <a:prstGeom prst="rect">
            <a:avLst/>
          </a:prstGeom>
          <a:solidFill>
            <a:srgbClr val="1A7A4A">
              <a:alpha val="30000"/>
            </a:srgbClr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57400"/>
            <a:ext cx="54864" cy="7772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 (Brand Request), Workflow B (Internal Task), Status Transition Diagram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206240" cy="777240"/>
          </a:xfrm>
          <a:prstGeom prst="rect">
            <a:avLst/>
          </a:prstGeom>
          <a:solidFill>
            <a:srgbClr val="7B4F9A">
              <a:alpha val="30000"/>
            </a:srgbClr>
          </a:solidFill>
          <a:ln w="1905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54864" cy="777240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swimlane across 6 actors — Brand Manager to Validator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86200"/>
            <a:ext cx="4206240" cy="777240"/>
          </a:xfrm>
          <a:prstGeom prst="rect">
            <a:avLst/>
          </a:prstGeom>
          <a:solidFill>
            <a:srgbClr val="065A82">
              <a:alpha val="30000"/>
            </a:srgbClr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86200"/>
            <a:ext cx="54864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messages across 8 lifelines — Frontend, Backend API, Database, and all actors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206240" cy="777240"/>
          </a:xfrm>
          <a:prstGeom prst="rect">
            <a:avLst/>
          </a:prstGeom>
          <a:solidFill>
            <a:srgbClr val="D6B656">
              <a:alpha val="30000"/>
            </a:srgbClr>
          </a:solidFill>
          <a:ln w="19050">
            <a:solidFill>
              <a:srgbClr val="D6B6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54864" cy="777240"/>
          </a:xfrm>
          <a:prstGeom prst="rect">
            <a:avLst/>
          </a:prstGeom>
          <a:solidFill>
            <a:srgbClr val="D6B656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2040" y="1490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use cases with include/extend relationships for all 5 roles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057400"/>
            <a:ext cx="4206240" cy="777240"/>
          </a:xfrm>
          <a:prstGeom prst="rect">
            <a:avLst/>
          </a:prstGeom>
          <a:solidFill>
            <a:srgbClr val="AE4132">
              <a:alpha val="30000"/>
            </a:srgbClr>
          </a:solidFill>
          <a:ln w="19050">
            <a:solidFill>
              <a:srgbClr val="AE41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57400"/>
            <a:ext cx="54864" cy="777240"/>
          </a:xfrm>
          <a:prstGeom prst="rect">
            <a:avLst/>
          </a:prstGeom>
          <a:solidFill>
            <a:srgbClr val="AE4132"/>
          </a:solidFill>
          <a:ln w="12700">
            <a:solidFill>
              <a:srgbClr val="AE41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9204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— system as a single process with all external entity data flows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206240" cy="777240"/>
          </a:xfrm>
          <a:prstGeom prst="rect">
            <a:avLst/>
          </a:prstGeom>
          <a:solidFill>
            <a:srgbClr val="36454F">
              <a:alpha val="30000"/>
            </a:srgbClr>
          </a:solidFill>
          <a:ln w="19050">
            <a:solidFill>
              <a:srgbClr val="364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54864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92040" y="3319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low-fidelity dashboard screens — Brand Manager, Mktg Manager, Designer, CC, Timeline, KPIM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Dual Approval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orchestrates 8 components to process a request from submission to closure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932688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86384" y="1563624"/>
            <a:ext cx="0" cy="2926080"/>
          </a:xfrm>
          <a:prstGeom prst="line">
            <a:avLst/>
          </a:prstGeom>
          <a:noFill/>
          <a:ln w="12700">
            <a:solidFill>
              <a:srgbClr val="2E75B6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1325880" y="1051560"/>
            <a:ext cx="932688" cy="51206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92224" y="1563624"/>
            <a:ext cx="0" cy="2926080"/>
          </a:xfrm>
          <a:prstGeom prst="line">
            <a:avLst/>
          </a:prstGeom>
          <a:noFill/>
          <a:ln w="12700">
            <a:solidFill>
              <a:srgbClr val="36454F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331720" y="1051560"/>
            <a:ext cx="932688" cy="512064"/>
          </a:xfrm>
          <a:prstGeom prst="rect">
            <a:avLst/>
          </a:prstGeom>
          <a:solidFill>
            <a:srgbClr val="D6B656"/>
          </a:solidFill>
          <a:ln w="12700">
            <a:solidFill>
              <a:srgbClr val="D6B6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98064" y="1563624"/>
            <a:ext cx="0" cy="2926080"/>
          </a:xfrm>
          <a:prstGeom prst="line">
            <a:avLst/>
          </a:prstGeom>
          <a:noFill/>
          <a:ln w="12700">
            <a:solidFill>
              <a:srgbClr val="D6B656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3337560" y="1051560"/>
            <a:ext cx="932688" cy="512064"/>
          </a:xfrm>
          <a:prstGeom prst="rect">
            <a:avLst/>
          </a:prstGeom>
          <a:solidFill>
            <a:srgbClr val="D6B656"/>
          </a:solidFill>
          <a:ln w="12700">
            <a:solidFill>
              <a:srgbClr val="D6B6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03904" y="1563624"/>
            <a:ext cx="0" cy="2926080"/>
          </a:xfrm>
          <a:prstGeom prst="line">
            <a:avLst/>
          </a:prstGeom>
          <a:noFill/>
          <a:ln w="12700">
            <a:solidFill>
              <a:srgbClr val="D6B656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4343400" y="1051560"/>
            <a:ext cx="932688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9744" y="1563624"/>
            <a:ext cx="0" cy="2926080"/>
          </a:xfrm>
          <a:prstGeom prst="line">
            <a:avLst/>
          </a:prstGeom>
          <a:noFill/>
          <a:ln w="12700">
            <a:solidFill>
              <a:srgbClr val="1A7A4A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5349240" y="1051560"/>
            <a:ext cx="932688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15584" y="1563624"/>
            <a:ext cx="0" cy="2926080"/>
          </a:xfrm>
          <a:prstGeom prst="line">
            <a:avLst/>
          </a:prstGeom>
          <a:noFill/>
          <a:ln w="12700">
            <a:solidFill>
              <a:srgbClr val="1A7A4A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6355080" y="1051560"/>
            <a:ext cx="932688" cy="512064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21424" y="1563624"/>
            <a:ext cx="0" cy="2926080"/>
          </a:xfrm>
          <a:prstGeom prst="line">
            <a:avLst/>
          </a:prstGeom>
          <a:noFill/>
          <a:ln w="12700">
            <a:solidFill>
              <a:srgbClr val="7B4F9A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7360920" y="1051560"/>
            <a:ext cx="932688" cy="512064"/>
          </a:xfrm>
          <a:prstGeom prst="rect">
            <a:avLst/>
          </a:prstGeom>
          <a:solidFill>
            <a:srgbClr val="D6B656"/>
          </a:solidFill>
          <a:ln w="12700">
            <a:solidFill>
              <a:srgbClr val="D6B6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1051560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27264" y="1563624"/>
            <a:ext cx="0" cy="2926080"/>
          </a:xfrm>
          <a:prstGeom prst="line">
            <a:avLst/>
          </a:prstGeom>
          <a:noFill/>
          <a:ln w="12700">
            <a:solidFill>
              <a:srgbClr val="D6B656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786384" y="1874520"/>
            <a:ext cx="10058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170992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submitRequest(form_data)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92224" y="2148840"/>
            <a:ext cx="10058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37944" y="19842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/api/v1/requests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98064" y="2377440"/>
            <a:ext cx="10058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22128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requests (status=draft)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98064" y="2606040"/>
            <a:ext cx="2011680" cy="0"/>
          </a:xfrm>
          <a:prstGeom prst="line">
            <a:avLst/>
          </a:prstGeom>
          <a:noFill/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3784" y="24414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approve {decision:'approve'}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98064" y="2834640"/>
            <a:ext cx="3017520" cy="0"/>
          </a:xfrm>
          <a:prstGeom prst="line">
            <a:avLst/>
          </a:prstGeom>
          <a:noFill/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43784" y="267004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approve {decision:'approve'}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98064" y="3063240"/>
            <a:ext cx="10058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28986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status='approved', auto-assign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98064" y="3291840"/>
            <a:ext cx="4023360" cy="0"/>
          </a:xfrm>
          <a:prstGeom prst="line">
            <a:avLst/>
          </a:prstGeom>
          <a:noFill/>
          <a:ln w="12700">
            <a:solidFill>
              <a:srgbClr val="7B4F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43784" y="312724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notifyAssignee() → task assigned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21424" y="3520440"/>
            <a:ext cx="1005840" cy="0"/>
          </a:xfrm>
          <a:prstGeom prst="line">
            <a:avLst/>
          </a:prstGeom>
          <a:noFill/>
          <a:ln w="12700">
            <a:solidFill>
              <a:srgbClr val="7B4F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67144" y="33558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4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uploadToStorage(file)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98064" y="3749040"/>
            <a:ext cx="1005840" cy="0"/>
          </a:xfrm>
          <a:prstGeom prst="line">
            <a:avLst/>
          </a:prstGeom>
          <a:noFill/>
          <a:ln w="12700">
            <a:solidFill>
              <a:srgbClr val="1A7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43784" y="358444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status='completed'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86384" y="3977640"/>
            <a:ext cx="201168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ysDash"/>
          </a:ln>
        </p:spPr>
      </p:sp>
      <p:sp>
        <p:nvSpPr>
          <p:cNvPr id="48" name="Text 46"/>
          <p:cNvSpPr/>
          <p:nvPr/>
        </p:nvSpPr>
        <p:spPr>
          <a:xfrm>
            <a:off x="832104" y="38130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{status:'closed'} — 200 OK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messages total · 4 phases: Submit → Dual Approval → Production → Review &amp;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SA 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documentation from business requirements to test validation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9436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8408" y="10881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3075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chapters · Stakeholder analysis · Business rules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61391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3916"/>
            <a:ext cx="59436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391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8408" y="16504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" y="18699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FR · 12 Non-FR · API spec · Business rules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17627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76272"/>
            <a:ext cx="59436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762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8408" y="22128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8408" y="24323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entities · 18 relations · Indexing strategy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7386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38628"/>
            <a:ext cx="59436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386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" y="27752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Document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29946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stories · 7 Epics · Acceptance Criteria · MoSCoW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30098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00984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009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8408" y="33375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" y="35570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2.0 · 6 lanes · Parallel &amp; Exclusive Gateways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8633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63340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8633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8408" y="38999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8408" y="41193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 &amp; B · Status Transition Diagram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4256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425696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2569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8408" y="44622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" y="46817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swimlane actors · Decision &amp; fork nodes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1051560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051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21808" y="10881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13075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messages · 8 lifelines · 4 interaction phases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161391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1613916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161391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21808" y="16504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21808" y="18699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use cases · include/extend · 5 actors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217627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176272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1762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21808" y="22128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 (Context Diagram)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21808" y="24323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 · All external entity data flows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27386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2738628"/>
            <a:ext cx="5943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27386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WRF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21808" y="277520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21808" y="29946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low-fidelity screens · All role dashboards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330098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63440" y="3300984"/>
            <a:ext cx="594360" cy="502920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33009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21808" y="33375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321808" y="35570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test cases · Critical/High/Medium severity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38633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63440" y="3863340"/>
            <a:ext cx="594360" cy="502920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38633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321808" y="38999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321808" y="41193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scenarios · 5 roles · Sign-off sheet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44256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663440" y="4425696"/>
            <a:ext cx="594360" cy="502920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442569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321808" y="44622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321808" y="46817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FR traced BRD → SRS → ERD → TC → UAT · 100%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25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Adinda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Aulia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Balqis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Designer → System Analyst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9260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057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Boga Kaya Rasa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2 years as DKV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represents not just a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 — but a real solution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problems I lived through.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73152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Full Project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documents, diagrams, and live demo available below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4480560" cy="868680"/>
          </a:xfrm>
          <a:prstGeom prst="rect">
            <a:avLst/>
          </a:prstGeom>
          <a:solidFill>
            <a:srgbClr val="1A7A4A">
              <a:alpha val="25000"/>
            </a:srgbClr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737360"/>
            <a:ext cx="64008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83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0848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 — built with Lovable 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6280" y="2322576"/>
            <a:ext cx="4206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https://markpro.lovable.app/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788920"/>
            <a:ext cx="4480560" cy="868680"/>
          </a:xfrm>
          <a:prstGeom prst="rect">
            <a:avLst/>
          </a:prstGeom>
          <a:solidFill>
            <a:srgbClr val="2E75B6">
              <a:alpha val="25000"/>
            </a:srgbClr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2788920"/>
            <a:ext cx="64008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834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Full Documentation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31363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· SRS · ERD · User Story · Test Plan · UAT · RTM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3374136"/>
            <a:ext cx="4206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https://github.com/adinda17/Marketing-Prod-System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4480560" cy="868680"/>
          </a:xfrm>
          <a:prstGeom prst="rect">
            <a:avLst/>
          </a:prstGeom>
          <a:solidFill>
            <a:srgbClr val="7B4F9A">
              <a:alpha val="25000"/>
            </a:srgbClr>
          </a:solidFill>
          <a:ln w="19050">
            <a:solidFill>
              <a:srgbClr val="7B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64008" cy="868680"/>
          </a:xfrm>
          <a:prstGeom prst="rect">
            <a:avLst/>
          </a:prstGeom>
          <a:solidFill>
            <a:srgbClr val="7B4F9A"/>
          </a:solidFill>
          <a:ln w="12700">
            <a:solidFill>
              <a:srgbClr val="7B4F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886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All Diagrams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1879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Flowchart · Activity · Sequence · Use Case · DFD · Wireframe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4425696"/>
            <a:ext cx="4206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https://github.com/adinda17/Marketing-Prod-System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47365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viewing this portfolio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869</Words>
  <Application>Microsoft Office PowerPoint</Application>
  <PresentationFormat>On-screen Show (16:9)</PresentationFormat>
  <Paragraphs>197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Production &amp; Request Management System</dc:title>
  <dc:subject>PptxGenJS Presentation</dc:subject>
  <dc:creator>Adinda</dc:creator>
  <cp:lastModifiedBy>Ananda Nur Syahria Rufaidah</cp:lastModifiedBy>
  <cp:revision>2</cp:revision>
  <dcterms:created xsi:type="dcterms:W3CDTF">2026-05-14T22:55:19Z</dcterms:created>
  <dcterms:modified xsi:type="dcterms:W3CDTF">2026-06-04T03:06:59Z</dcterms:modified>
</cp:coreProperties>
</file>